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0E5C0"/>
                </a:solidFill>
              </a:rPr>
              <a:t>GLO Finance AS-IS Process Map — High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Business-Function View  |  7 Swim Lanes  |  5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</a:rPr>
              <a:t>[A] = Automated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860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[M] = Manual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860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</a:rPr>
              <a:t>[A/M] = Mixed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34360"/>
            <a:ext cx="127000" cy="127000"/>
          </a:xfrm>
          <a:prstGeom prst="ellipse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Supplier &amp; MDM  —  MDM / SSUP Team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18408"/>
            <a:ext cx="127000" cy="127000"/>
          </a:xfrm>
          <a:prstGeom prst="ellipse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93008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Procurement &amp; Buying  —  Buyers / Merchandisers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02456"/>
            <a:ext cx="127000" cy="127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77056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Logistics &amp; Shipping  —  Logistics / FF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86504"/>
            <a:ext cx="127000" cy="127000"/>
          </a:xfrm>
          <a:prstGeom prst="ellipse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61104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Invoice Processing  —  AP Finance Team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670552"/>
            <a:ext cx="127000" cy="1270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45152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Freight Self-Billing  —  TBS Self-Billing Team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054600"/>
            <a:ext cx="127000" cy="127000"/>
          </a:xfrm>
          <a:prstGeom prst="ellipse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29200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AR &amp; Finance Settlement  —  Finance / Treasury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438648"/>
            <a:ext cx="127000" cy="127000"/>
          </a:xfrm>
          <a:prstGeom prst="ellipse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413248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Customs &amp; Duty  —  Customs Team / WTA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Tesco Global Finance  |  Confidential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262"/>
            <a:ext cx="12188952" cy="772079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87262"/>
            <a:ext cx="38100" cy="772079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7262"/>
            <a:ext cx="1971742" cy="772079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" y="887262"/>
            <a:ext cx="1895542" cy="772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00E5C0"/>
                </a:solidFill>
              </a:rPr>
              <a:t>Supplier &amp;</a:t>
            </a:r>
          </a:p>
          <a:p>
            <a:pPr algn="ctr"/>
            <a:r>
              <a:rPr sz="550" b="1">
                <a:solidFill>
                  <a:srgbClr val="00E5C0"/>
                </a:solidFill>
              </a:rPr>
              <a:t>MDM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" y="1401981"/>
            <a:ext cx="1920942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MDM / SSUP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5934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59341"/>
            <a:ext cx="12188952" cy="849285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659341"/>
            <a:ext cx="38100" cy="849285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59341"/>
            <a:ext cx="1971742" cy="849285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" y="1659341"/>
            <a:ext cx="1895542" cy="8492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4FB3FF"/>
                </a:solidFill>
              </a:rPr>
              <a:t>Procurement</a:t>
            </a:r>
          </a:p>
          <a:p>
            <a:pPr algn="ctr"/>
            <a:r>
              <a:rPr sz="550" b="1">
                <a:solidFill>
                  <a:srgbClr val="4FB3FF"/>
                </a:solidFill>
              </a:rPr>
              <a:t>&amp; Buying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" y="2225531"/>
            <a:ext cx="1920942" cy="2830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Buyers / Merchandisers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508625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508626"/>
            <a:ext cx="12188952" cy="772078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508626"/>
            <a:ext cx="38100" cy="77207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508626"/>
            <a:ext cx="1971742" cy="77207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" y="2508626"/>
            <a:ext cx="1895542" cy="772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A78BFA"/>
                </a:solidFill>
              </a:rPr>
              <a:t>Logistics</a:t>
            </a:r>
          </a:p>
          <a:p>
            <a:pPr algn="ctr"/>
            <a:r>
              <a:rPr sz="550" b="1">
                <a:solidFill>
                  <a:srgbClr val="A78BFA"/>
                </a:solidFill>
              </a:rPr>
              <a:t>&amp; Shipping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" y="3023344"/>
            <a:ext cx="1920942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Logistics / 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280703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280704"/>
            <a:ext cx="12188952" cy="1080910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280704"/>
            <a:ext cx="38100" cy="1080910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80704"/>
            <a:ext cx="1971742" cy="108091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" y="3280704"/>
            <a:ext cx="1895542" cy="10809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D04A"/>
                </a:solidFill>
              </a:rPr>
              <a:t>Invoice</a:t>
            </a:r>
          </a:p>
          <a:p>
            <a:pPr algn="ctr"/>
            <a:r>
              <a:rPr sz="550" b="1">
                <a:solidFill>
                  <a:srgbClr val="FFD04A"/>
                </a:solidFill>
              </a:rPr>
              <a:t>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" y="4001310"/>
            <a:ext cx="1920942" cy="360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AP Finance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361613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361614"/>
            <a:ext cx="12188952" cy="926493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61614"/>
            <a:ext cx="38100" cy="92649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361614"/>
            <a:ext cx="1971742" cy="926493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" y="4361614"/>
            <a:ext cx="1895542" cy="926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6B6B"/>
                </a:solidFill>
              </a:rPr>
              <a:t>Freight</a:t>
            </a:r>
          </a:p>
          <a:p>
            <a:pPr algn="ctr"/>
            <a:r>
              <a:rPr sz="550" b="1">
                <a:solidFill>
                  <a:srgbClr val="FF6B6B"/>
                </a:solidFill>
              </a:rPr>
              <a:t>Self-Billing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" y="4979276"/>
            <a:ext cx="1920942" cy="308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TBS Self-Billing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28810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5288107"/>
            <a:ext cx="12188952" cy="772079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288107"/>
            <a:ext cx="38100" cy="772079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288107"/>
            <a:ext cx="1971742" cy="772079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" y="5288107"/>
            <a:ext cx="1895542" cy="772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57BFF"/>
                </a:solidFill>
              </a:rPr>
              <a:t>AR &amp; Finance</a:t>
            </a:r>
          </a:p>
          <a:p>
            <a:pPr algn="ctr"/>
            <a:r>
              <a:rPr sz="550" b="1">
                <a:solidFill>
                  <a:srgbClr val="C57BFF"/>
                </a:solidFill>
              </a:rPr>
              <a:t>Settlement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" y="5802826"/>
            <a:ext cx="1920942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/ Treasury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060185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060186"/>
            <a:ext cx="12188952" cy="797814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060186"/>
            <a:ext cx="38100" cy="797814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060186"/>
            <a:ext cx="1971742" cy="797814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" y="6060186"/>
            <a:ext cx="1895542" cy="7978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2E67A"/>
                </a:solidFill>
              </a:rPr>
              <a:t>Customs</a:t>
            </a:r>
          </a:p>
          <a:p>
            <a:pPr algn="ctr"/>
            <a:r>
              <a:rPr sz="550" b="1">
                <a:solidFill>
                  <a:srgbClr val="52E67A"/>
                </a:solidFill>
              </a:rPr>
              <a:t>&amp; Duty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" y="6592062"/>
            <a:ext cx="1920942" cy="265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Customs Team / WTA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57999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71742" y="0"/>
            <a:ext cx="4301983" cy="475488"/>
          </a:xfrm>
          <a:prstGeom prst="rect">
            <a:avLst/>
          </a:prstGeom>
          <a:solidFill>
            <a:srgbClr val="00E5C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09842" y="0"/>
            <a:ext cx="4225783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00E5C0"/>
                </a:solidFill>
              </a:rPr>
              <a:t>Supplier</a:t>
            </a:r>
          </a:p>
          <a:p>
            <a:pPr algn="ctr"/>
            <a:r>
              <a:rPr sz="700" b="1">
                <a:solidFill>
                  <a:srgbClr val="00E5C0"/>
                </a:solidFill>
              </a:rPr>
              <a:t>Onboarding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3724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73725" y="0"/>
            <a:ext cx="5915226" cy="475488"/>
          </a:xfrm>
          <a:prstGeom prst="rect">
            <a:avLst/>
          </a:prstGeom>
          <a:solidFill>
            <a:srgbClr val="4FB3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11825" y="0"/>
            <a:ext cx="5839026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4FB3FF"/>
                </a:solidFill>
              </a:rPr>
              <a:t>Order</a:t>
            </a:r>
          </a:p>
          <a:p>
            <a:pPr algn="ctr"/>
            <a:r>
              <a:rPr sz="700" b="1">
                <a:solidFill>
                  <a:srgbClr val="4FB3FF"/>
                </a:solidFill>
              </a:rPr>
              <a:t>Management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88950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0"/>
            <a:ext cx="197174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SYSTEM / FUNCTION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00" y="50800"/>
            <a:ext cx="10058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2  |  P1-2: Supplier Onboarding &amp; Order Management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427457" y="1273302"/>
            <a:ext cx="519823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166175" y="1273302"/>
            <a:ext cx="519823" cy="0"/>
          </a:xfrm>
          <a:prstGeom prst="line">
            <a:avLst/>
          </a:prstGeom>
          <a:ln w="1143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51766" y="118186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5556728" y="1448306"/>
            <a:ext cx="0" cy="175004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282408" y="1444368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4893505" y="1273302"/>
            <a:ext cx="53775" cy="267653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646072" y="1315688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retry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012443" y="1273302"/>
            <a:ext cx="645297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320963" y="1391687"/>
            <a:ext cx="1075496" cy="342288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584391" y="1471391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EQOS→ISOS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267188" y="2083983"/>
            <a:ext cx="519823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05906" y="2083983"/>
            <a:ext cx="609448" cy="0"/>
          </a:xfrm>
          <a:prstGeom prst="line">
            <a:avLst/>
          </a:prstGeom>
          <a:ln w="1143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036310" y="199254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10396459" y="2274429"/>
            <a:ext cx="0" cy="159563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122139" y="2262770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01013" y="1154917"/>
            <a:ext cx="1326444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Collect &amp; Submit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Supplier Documents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24257" y="115491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01013" y="1391688"/>
            <a:ext cx="1326444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SSUP Portal / NeoGrid</a:t>
            </a:r>
          </a:p>
        </p:txBody>
      </p:sp>
      <p:sp>
        <p:nvSpPr>
          <p:cNvPr id="71" name="Diamond 70"/>
          <p:cNvSpPr/>
          <p:nvPr/>
        </p:nvSpPr>
        <p:spPr>
          <a:xfrm>
            <a:off x="4947281" y="923294"/>
            <a:ext cx="1218894" cy="700016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MDM Validation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OK?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93506" y="1448306"/>
            <a:ext cx="1326444" cy="185298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Resolve Gaps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↑ SSUP Resolves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93506" y="1659341"/>
            <a:ext cx="1326444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NeoGrid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85999" y="1154917"/>
            <a:ext cx="1326444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Supplier Record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Created in EQOS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09243" y="115491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85999" y="1391688"/>
            <a:ext cx="1326444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EQOS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57741" y="1154917"/>
            <a:ext cx="1326444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Auto Data Feed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OFI &amp; ISOS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80985" y="115491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57741" y="1391688"/>
            <a:ext cx="1326444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EQOS → OFI / ISOS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40744" y="1963025"/>
            <a:ext cx="1326444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4F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Buyer Creates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Purchase Order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63988" y="1963025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40744" y="2199796"/>
            <a:ext cx="1326444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LM / MM System</a:t>
            </a:r>
          </a:p>
        </p:txBody>
      </p:sp>
      <p:sp>
        <p:nvSpPr>
          <p:cNvPr id="83" name="Diamond 82"/>
          <p:cNvSpPr/>
          <p:nvPr/>
        </p:nvSpPr>
        <p:spPr>
          <a:xfrm>
            <a:off x="9787012" y="1731402"/>
            <a:ext cx="1218894" cy="700016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Factory Compliant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&amp; Valid?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33237" y="2271856"/>
            <a:ext cx="1326444" cy="185298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4ADE80"/>
                </a:solidFill>
              </a:rPr>
              <a:t>PO Blocked</a:t>
            </a:r>
          </a:p>
          <a:p>
            <a:pPr algn="ctr"/>
            <a:r>
              <a:rPr sz="500" b="0">
                <a:solidFill>
                  <a:srgbClr val="4ADE80"/>
                </a:solidFill>
              </a:rPr>
              <a:t>(Non-Compliant)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33237" y="2482891"/>
            <a:ext cx="1326444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262"/>
            <a:ext cx="12188952" cy="772079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87262"/>
            <a:ext cx="38100" cy="772079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7262"/>
            <a:ext cx="1655289" cy="772079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" y="887262"/>
            <a:ext cx="1579089" cy="772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00E5C0"/>
                </a:solidFill>
              </a:rPr>
              <a:t>Supplier &amp;</a:t>
            </a:r>
          </a:p>
          <a:p>
            <a:pPr algn="ctr"/>
            <a:r>
              <a:rPr sz="550" b="1">
                <a:solidFill>
                  <a:srgbClr val="00E5C0"/>
                </a:solidFill>
              </a:rPr>
              <a:t>MDM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" y="1401981"/>
            <a:ext cx="1604489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MDM / SSUP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5934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59341"/>
            <a:ext cx="12188952" cy="849285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659341"/>
            <a:ext cx="38100" cy="849285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59341"/>
            <a:ext cx="1655289" cy="849285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" y="1659341"/>
            <a:ext cx="1579089" cy="8492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4FB3FF"/>
                </a:solidFill>
              </a:rPr>
              <a:t>Procurement</a:t>
            </a:r>
          </a:p>
          <a:p>
            <a:pPr algn="ctr"/>
            <a:r>
              <a:rPr sz="550" b="1">
                <a:solidFill>
                  <a:srgbClr val="4FB3FF"/>
                </a:solidFill>
              </a:rPr>
              <a:t>&amp; Buying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" y="2225531"/>
            <a:ext cx="1604489" cy="2830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Buyers / Merchandisers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508625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508626"/>
            <a:ext cx="12188952" cy="772078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508626"/>
            <a:ext cx="38100" cy="77207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508626"/>
            <a:ext cx="1655289" cy="77207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" y="2508626"/>
            <a:ext cx="1579089" cy="772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A78BFA"/>
                </a:solidFill>
              </a:rPr>
              <a:t>Logistics</a:t>
            </a:r>
          </a:p>
          <a:p>
            <a:pPr algn="ctr"/>
            <a:r>
              <a:rPr sz="550" b="1">
                <a:solidFill>
                  <a:srgbClr val="A78BFA"/>
                </a:solidFill>
              </a:rPr>
              <a:t>&amp; Shipping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" y="3023344"/>
            <a:ext cx="1604489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Logistics / 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280703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280704"/>
            <a:ext cx="12188952" cy="1080910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280704"/>
            <a:ext cx="38100" cy="1080910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80704"/>
            <a:ext cx="1655289" cy="108091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" y="3280704"/>
            <a:ext cx="1579089" cy="10809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D04A"/>
                </a:solidFill>
              </a:rPr>
              <a:t>Invoice</a:t>
            </a:r>
          </a:p>
          <a:p>
            <a:pPr algn="ctr"/>
            <a:r>
              <a:rPr sz="550" b="1">
                <a:solidFill>
                  <a:srgbClr val="FFD04A"/>
                </a:solidFill>
              </a:rPr>
              <a:t>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" y="4001310"/>
            <a:ext cx="1604489" cy="360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AP Finance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361613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361614"/>
            <a:ext cx="12188952" cy="926493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61614"/>
            <a:ext cx="38100" cy="92649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361614"/>
            <a:ext cx="1655289" cy="926493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" y="4361614"/>
            <a:ext cx="1579089" cy="926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6B6B"/>
                </a:solidFill>
              </a:rPr>
              <a:t>Freight</a:t>
            </a:r>
          </a:p>
          <a:p>
            <a:pPr algn="ctr"/>
            <a:r>
              <a:rPr sz="550" b="1">
                <a:solidFill>
                  <a:srgbClr val="FF6B6B"/>
                </a:solidFill>
              </a:rPr>
              <a:t>Self-Billing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" y="4979276"/>
            <a:ext cx="1604489" cy="308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TBS Self-Billing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28810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5288107"/>
            <a:ext cx="12188952" cy="772079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288107"/>
            <a:ext cx="38100" cy="772079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288107"/>
            <a:ext cx="1655289" cy="772079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" y="5288107"/>
            <a:ext cx="1579089" cy="772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57BFF"/>
                </a:solidFill>
              </a:rPr>
              <a:t>AR &amp; Finance</a:t>
            </a:r>
          </a:p>
          <a:p>
            <a:pPr algn="ctr"/>
            <a:r>
              <a:rPr sz="550" b="1">
                <a:solidFill>
                  <a:srgbClr val="C57BFF"/>
                </a:solidFill>
              </a:rPr>
              <a:t>Settlement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" y="5802826"/>
            <a:ext cx="1604489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/ Treasury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060185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060186"/>
            <a:ext cx="12188952" cy="797814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060186"/>
            <a:ext cx="38100" cy="797814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060186"/>
            <a:ext cx="1655289" cy="797814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" y="6060186"/>
            <a:ext cx="1579089" cy="7978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2E67A"/>
                </a:solidFill>
              </a:rPr>
              <a:t>Customs</a:t>
            </a:r>
          </a:p>
          <a:p>
            <a:pPr algn="ctr"/>
            <a:r>
              <a:rPr sz="550" b="1">
                <a:solidFill>
                  <a:srgbClr val="52E67A"/>
                </a:solidFill>
              </a:rPr>
              <a:t>&amp; Duty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" y="6592062"/>
            <a:ext cx="1604489" cy="265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Customs Team / WTA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57999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55289" y="0"/>
            <a:ext cx="4664908" cy="475488"/>
          </a:xfrm>
          <a:prstGeom prst="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93389" y="0"/>
            <a:ext cx="458870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</a:rPr>
              <a:t>Shipment &amp;</a:t>
            </a:r>
          </a:p>
          <a:p>
            <a:pPr algn="ctr"/>
            <a:r>
              <a:rPr sz="700" b="1">
                <a:solidFill>
                  <a:srgbClr val="A78BFA"/>
                </a:solidFill>
              </a:rPr>
              <a:t>Logistics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0196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20197" y="0"/>
            <a:ext cx="5868755" cy="475488"/>
          </a:xfrm>
          <a:prstGeom prst="rect">
            <a:avLst/>
          </a:prstGeom>
          <a:solidFill>
            <a:srgbClr val="FFD04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8297" y="0"/>
            <a:ext cx="5792555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D04A"/>
                </a:solidFill>
              </a:rPr>
              <a:t>Invoice &amp;</a:t>
            </a:r>
          </a:p>
          <a:p>
            <a:pPr algn="ctr"/>
            <a:r>
              <a:rPr sz="700" b="1">
                <a:solidFill>
                  <a:srgbClr val="FFD04A"/>
                </a:solidFill>
              </a:rPr>
              <a:t>Payment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88951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0"/>
            <a:ext cx="165528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SYSTEM / FUNCTION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00" y="50800"/>
            <a:ext cx="10058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3  |  P3-4: Shipment / Logistics &amp; Invoice / Payment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287309" y="2083983"/>
            <a:ext cx="466491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2106732" y="2202369"/>
            <a:ext cx="1203847" cy="57391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434335" y="2397884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PO→Ship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663511" y="2894665"/>
            <a:ext cx="466491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243561" y="2894665"/>
            <a:ext cx="391250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748369" y="2894665"/>
            <a:ext cx="391251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91590" y="3013051"/>
            <a:ext cx="1730530" cy="689723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782535" y="326647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IV0+PDF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696399" y="3013051"/>
            <a:ext cx="225721" cy="1693424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34939" y="376832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OTM All File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478900" y="3821159"/>
            <a:ext cx="586875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089045" y="3821159"/>
            <a:ext cx="632020" cy="0"/>
          </a:xfrm>
          <a:prstGeom prst="line">
            <a:avLst/>
          </a:prstGeom>
          <a:ln w="1143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130735" y="3729719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 ✓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8577410" y="4119696"/>
            <a:ext cx="0" cy="51472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303090" y="405399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 ✗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8020631" y="3821159"/>
            <a:ext cx="45144" cy="391186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768883" y="392531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resolved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744335" y="3821159"/>
            <a:ext cx="586875" cy="0"/>
          </a:xfrm>
          <a:prstGeom prst="line">
            <a:avLst/>
          </a:prstGeom>
          <a:ln w="1143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763452" y="3729719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 ✓ Match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10232700" y="4119696"/>
            <a:ext cx="0" cy="51472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958380" y="405399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 ✗ DQ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9675921" y="3821159"/>
            <a:ext cx="45144" cy="391186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424173" y="392531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resubmit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12188952" y="3821159"/>
            <a:ext cx="255817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887990" y="3939544"/>
            <a:ext cx="300962" cy="1616217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1764151" y="465621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AP→AR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10232700" y="3939544"/>
            <a:ext cx="1655290" cy="2401163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786025" y="5048685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IMS data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478900" y="4824861"/>
            <a:ext cx="541731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134189" y="4824861"/>
            <a:ext cx="541732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789479" y="4824861"/>
            <a:ext cx="586876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2188952" y="4824861"/>
            <a:ext cx="210673" cy="0"/>
          </a:xfrm>
          <a:prstGeom prst="line">
            <a:avLst/>
          </a:prstGeom>
          <a:ln w="1143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2019968" y="4733421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 ✓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11887990" y="5082220"/>
            <a:ext cx="0" cy="92649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613670" y="5037104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 ✗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11331210" y="4824861"/>
            <a:ext cx="45145" cy="350008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079462" y="4908425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resolved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0789479" y="6459093"/>
            <a:ext cx="586876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12188952" y="6459093"/>
            <a:ext cx="210673" cy="0"/>
          </a:xfrm>
          <a:prstGeom prst="line">
            <a:avLst/>
          </a:prstGeom>
          <a:ln w="1143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2019968" y="636765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 ✓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11887990" y="6654686"/>
            <a:ext cx="0" cy="154415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1613670" y="664045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 ✗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11331210" y="6459093"/>
            <a:ext cx="45145" cy="288242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1079462" y="6511774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escalated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73751" y="1963025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4F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Enrich PO &amp;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Assign Forwarder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84109" y="1963025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73751" y="2199796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753800" y="1963025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PO Distributed to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Supplier via OTM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64158" y="1963025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53800" y="2199796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49953" y="2776280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FOB: Goods Handed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Freight Forwarder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0311" y="2776280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49953" y="3013051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FF System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130002" y="2776280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Shipment Milestones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Processed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40360" y="2776280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30002" y="3013051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 / OTM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34811" y="2776280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Shipment Confirmed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&amp; Tracked (SM2)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45169" y="2776280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34811" y="3013051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39620" y="2776280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Daily Inbound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Freight File Generated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49978" y="2776280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39620" y="3013051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65341" y="3702774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D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Receive Invoices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(IV0 + PDF Indexed)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75699" y="3702774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94A3B8"/>
                </a:solidFill>
              </a:rPr>
              <a:t>[A/M]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65341" y="3939545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BizTalk / Documentum</a:t>
            </a:r>
          </a:p>
        </p:txBody>
      </p:sp>
      <p:sp>
        <p:nvSpPr>
          <p:cNvPr id="118" name="Diamond 117"/>
          <p:cNvSpPr/>
          <p:nvPr/>
        </p:nvSpPr>
        <p:spPr>
          <a:xfrm>
            <a:off x="8065775" y="3471151"/>
            <a:ext cx="1023270" cy="700016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Cost &amp; PO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Match OK?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020631" y="4119696"/>
            <a:ext cx="1113558" cy="185298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Buyer Resolves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Cost Exception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020631" y="4330731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 Business Monitor</a:t>
            </a:r>
          </a:p>
        </p:txBody>
      </p:sp>
      <p:sp>
        <p:nvSpPr>
          <p:cNvPr id="121" name="Diamond 120"/>
          <p:cNvSpPr/>
          <p:nvPr/>
        </p:nvSpPr>
        <p:spPr>
          <a:xfrm>
            <a:off x="9721065" y="3471151"/>
            <a:ext cx="1023270" cy="700016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3-Way Match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OK?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675921" y="4119696"/>
            <a:ext cx="1113558" cy="185298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DQ Exception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Raised &amp; Resolved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75921" y="4330731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MS Access / DQ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1331211" y="3702774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AP Invoice Created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(Oracle 11i OFI)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241569" y="3702774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331211" y="3939545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Financials 11i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365341" y="4706476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Upload OTM File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Self-Billing Tool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75699" y="4706476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365341" y="4943247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MS Access DB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020631" y="4706476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Weekly Carrier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Invoice Extract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30989" y="4706476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20631" y="4943247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MS Access DB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675921" y="4706476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Send to Carrier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for Cost Agreement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586279" y="4706476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75921" y="4943247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Excel / Email</a:t>
            </a:r>
          </a:p>
        </p:txBody>
      </p:sp>
      <p:sp>
        <p:nvSpPr>
          <p:cNvPr id="136" name="Diamond 135"/>
          <p:cNvSpPr/>
          <p:nvPr/>
        </p:nvSpPr>
        <p:spPr>
          <a:xfrm>
            <a:off x="11376355" y="4474853"/>
            <a:ext cx="1023270" cy="700016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Carrier Agrees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on Costs?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1331211" y="5082220"/>
            <a:ext cx="1113558" cy="185298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Resolve Discrepancy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(Rate Card)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331211" y="5293255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Rate Card / Email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675921" y="6338134"/>
            <a:ext cx="1113558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2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CSS + IMS Data Sent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Customs / WTA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586279" y="6338134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75921" y="6574905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 / OFI</a:t>
            </a:r>
          </a:p>
        </p:txBody>
      </p:sp>
      <p:sp>
        <p:nvSpPr>
          <p:cNvPr id="142" name="Diamond 141"/>
          <p:cNvSpPr/>
          <p:nvPr/>
        </p:nvSpPr>
        <p:spPr>
          <a:xfrm>
            <a:off x="11376355" y="6106511"/>
            <a:ext cx="1023270" cy="700016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Data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Complete?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1331211" y="6652112"/>
            <a:ext cx="1113558" cy="185298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Escalate Missing Data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(Demurrage Risk)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331211" y="6863147"/>
            <a:ext cx="111355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WTA / AP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262"/>
            <a:ext cx="12188952" cy="772079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87262"/>
            <a:ext cx="38100" cy="772079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7262"/>
            <a:ext cx="2793301" cy="772079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" y="887262"/>
            <a:ext cx="2717101" cy="772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00E5C0"/>
                </a:solidFill>
              </a:rPr>
              <a:t>Supplier &amp;</a:t>
            </a:r>
          </a:p>
          <a:p>
            <a:pPr algn="ctr"/>
            <a:r>
              <a:rPr sz="550" b="1">
                <a:solidFill>
                  <a:srgbClr val="00E5C0"/>
                </a:solidFill>
              </a:rPr>
              <a:t>MDM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" y="1401981"/>
            <a:ext cx="2742501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MDM / SSUP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5934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59341"/>
            <a:ext cx="12188952" cy="849285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659341"/>
            <a:ext cx="38100" cy="849285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59341"/>
            <a:ext cx="2793301" cy="849285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" y="1659341"/>
            <a:ext cx="2717101" cy="8492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4FB3FF"/>
                </a:solidFill>
              </a:rPr>
              <a:t>Procurement</a:t>
            </a:r>
          </a:p>
          <a:p>
            <a:pPr algn="ctr"/>
            <a:r>
              <a:rPr sz="550" b="1">
                <a:solidFill>
                  <a:srgbClr val="4FB3FF"/>
                </a:solidFill>
              </a:rPr>
              <a:t>&amp; Buying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" y="2225531"/>
            <a:ext cx="2742501" cy="2830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Buyers / Merchandisers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508625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508626"/>
            <a:ext cx="12188952" cy="772078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508626"/>
            <a:ext cx="38100" cy="77207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508626"/>
            <a:ext cx="2793301" cy="77207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" y="2508626"/>
            <a:ext cx="2717101" cy="772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A78BFA"/>
                </a:solidFill>
              </a:rPr>
              <a:t>Logistics</a:t>
            </a:r>
          </a:p>
          <a:p>
            <a:pPr algn="ctr"/>
            <a:r>
              <a:rPr sz="550" b="1">
                <a:solidFill>
                  <a:srgbClr val="A78BFA"/>
                </a:solidFill>
              </a:rPr>
              <a:t>&amp; Shipping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" y="3023344"/>
            <a:ext cx="2742501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Logistics / 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280703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280704"/>
            <a:ext cx="12188952" cy="1080910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280704"/>
            <a:ext cx="38100" cy="1080910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80704"/>
            <a:ext cx="2793301" cy="108091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" y="3280704"/>
            <a:ext cx="2717101" cy="10809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D04A"/>
                </a:solidFill>
              </a:rPr>
              <a:t>Invoice</a:t>
            </a:r>
          </a:p>
          <a:p>
            <a:pPr algn="ctr"/>
            <a:r>
              <a:rPr sz="550" b="1">
                <a:solidFill>
                  <a:srgbClr val="FFD04A"/>
                </a:solidFill>
              </a:rPr>
              <a:t>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" y="4001310"/>
            <a:ext cx="2742501" cy="360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AP Finance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361613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361614"/>
            <a:ext cx="12188952" cy="926493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61614"/>
            <a:ext cx="38100" cy="92649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361614"/>
            <a:ext cx="2793301" cy="926493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" y="4361614"/>
            <a:ext cx="2717101" cy="926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6B6B"/>
                </a:solidFill>
              </a:rPr>
              <a:t>Freight</a:t>
            </a:r>
          </a:p>
          <a:p>
            <a:pPr algn="ctr"/>
            <a:r>
              <a:rPr sz="550" b="1">
                <a:solidFill>
                  <a:srgbClr val="FF6B6B"/>
                </a:solidFill>
              </a:rPr>
              <a:t>Self-Billing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" y="4979276"/>
            <a:ext cx="2742501" cy="308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TBS Self-Billing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28810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5288107"/>
            <a:ext cx="12188952" cy="772079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288107"/>
            <a:ext cx="38100" cy="772079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288107"/>
            <a:ext cx="2793301" cy="772079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" y="5288107"/>
            <a:ext cx="2717101" cy="772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57BFF"/>
                </a:solidFill>
              </a:rPr>
              <a:t>AR &amp; Finance</a:t>
            </a:r>
          </a:p>
          <a:p>
            <a:pPr algn="ctr"/>
            <a:r>
              <a:rPr sz="550" b="1">
                <a:solidFill>
                  <a:srgbClr val="C57BFF"/>
                </a:solidFill>
              </a:rPr>
              <a:t>Settlement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" y="5802826"/>
            <a:ext cx="2742501" cy="257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/ Treasury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060185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060186"/>
            <a:ext cx="12188952" cy="797814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060186"/>
            <a:ext cx="38100" cy="797814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060186"/>
            <a:ext cx="2793301" cy="797814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" y="6060186"/>
            <a:ext cx="2717101" cy="7978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2E67A"/>
                </a:solidFill>
              </a:rPr>
              <a:t>Customs</a:t>
            </a:r>
          </a:p>
          <a:p>
            <a:pPr algn="ctr"/>
            <a:r>
              <a:rPr sz="550" b="1">
                <a:solidFill>
                  <a:srgbClr val="52E67A"/>
                </a:solidFill>
              </a:rPr>
              <a:t>&amp; Duty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" y="6592062"/>
            <a:ext cx="2742501" cy="265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Customs Team / WTA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57999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93301" y="0"/>
            <a:ext cx="9395651" cy="475488"/>
          </a:xfrm>
          <a:prstGeom prst="rect">
            <a:avLst/>
          </a:prstGeom>
          <a:solidFill>
            <a:srgbClr val="FF6B6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1401" y="0"/>
            <a:ext cx="9319451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6B6B"/>
                </a:solidFill>
              </a:rPr>
              <a:t>Finance &amp;</a:t>
            </a:r>
          </a:p>
          <a:p>
            <a:pPr algn="ctr"/>
            <a:r>
              <a:rPr sz="700" b="1">
                <a:solidFill>
                  <a:srgbClr val="FF6B6B"/>
                </a:solidFill>
              </a:rPr>
              <a:t>Compliance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188951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0"/>
            <a:ext cx="2793301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SYSTEM / FUNCTION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" y="50800"/>
            <a:ext cx="10058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4  |  P5: Finance &amp; Compliance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45263" y="4824861"/>
            <a:ext cx="914171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75580" y="5674146"/>
            <a:ext cx="990353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592701" y="5457965"/>
            <a:ext cx="990352" cy="216181"/>
          </a:xfrm>
          <a:prstGeom prst="line">
            <a:avLst/>
          </a:prstGeom>
          <a:ln w="1143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813557" y="5474615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UK/ROI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6729317" y="5771943"/>
            <a:ext cx="2793301" cy="252212"/>
          </a:xfrm>
          <a:prstGeom prst="bentConnector3">
            <a:avLst/>
          </a:prstGeom>
          <a:ln w="1143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851647" y="5806609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CE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145263" y="6459093"/>
            <a:ext cx="914171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38564" y="6459093"/>
            <a:ext cx="914172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266133" y="3702774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Payment Released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(90-day / LC / VF)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2063" y="3702774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66133" y="3939545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OFI / HSBC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6133" y="4706476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PO Raised &amp; Carrier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eInvoice (Tungsten)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2063" y="4706476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66133" y="4943247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Fusion / Tungsten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59434" y="4706476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Auto-Payment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(30-60 days)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5364" y="4706476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9434" y="4943247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Fusion AP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96450" y="5555761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5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AR Invoice &amp;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Commission Created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72380" y="555576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6450" y="5792532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Financials 11i</a:t>
            </a:r>
          </a:p>
        </p:txBody>
      </p:sp>
      <p:sp>
        <p:nvSpPr>
          <p:cNvPr id="70" name="Diamond 69"/>
          <p:cNvSpPr/>
          <p:nvPr/>
        </p:nvSpPr>
        <p:spPr>
          <a:xfrm>
            <a:off x="5865933" y="5324138"/>
            <a:ext cx="1726768" cy="700016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UK / ROI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or CE?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83053" y="5339580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5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Oracle Fusion AR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(UK / ROI)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58983" y="5339580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83053" y="5576351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Fusion AR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583053" y="5771943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5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RIMS Manual Entry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→ Oracle R12 (CE)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58983" y="5771943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83053" y="6008714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RIMS / Oracle R12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66133" y="6338134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SFD Filed at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UK Border (WTA/HMRC)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2063" y="6338134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94A3B8"/>
                </a:solidFill>
              </a:rPr>
              <a:t>[A/M]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66133" y="6574905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WTA / HMRC (CHIEF/CDS)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059434" y="6338134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2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HS Codes, Duty Rates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&amp; Accrual to GL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35364" y="6338134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9434" y="6574905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NBS / OFI GL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52736" y="6338134"/>
            <a:ext cx="1879130" cy="236770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Monthly Duty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Payment (DDA)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528666" y="6338134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52736" y="6574905"/>
            <a:ext cx="1879130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DDA / TISL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