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19050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00E5C0"/>
                </a:solidFill>
              </a:rPr>
              <a:t>GLO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</a:rPr>
              <a:t>AS-IS Process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7 Swim Lanes  ·  8 Process Phases  ·  Document Source: GLO_Finance_ASIS_Final.docx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Tesco Global Finance  |  Confidential  |  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3246120"/>
            <a:ext cx="355600" cy="177800"/>
          </a:xfrm>
          <a:prstGeom prst="roundRect">
            <a:avLst/>
          </a:prstGeom>
          <a:solidFill>
            <a:srgbClr val="0D1117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332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Process Step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246120"/>
            <a:ext cx="355600" cy="177800"/>
          </a:xfrm>
          <a:prstGeom prst="roundRect">
            <a:avLst/>
          </a:prstGeom>
          <a:solidFill>
            <a:srgbClr val="0D1117"/>
          </a:solidFill>
          <a:ln w="1524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1780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Key Output</a:t>
            </a:r>
          </a:p>
        </p:txBody>
      </p:sp>
      <p:sp>
        <p:nvSpPr>
          <p:cNvPr id="12" name="Diamond 11"/>
          <p:cNvSpPr/>
          <p:nvPr/>
        </p:nvSpPr>
        <p:spPr>
          <a:xfrm>
            <a:off x="4297680" y="3246120"/>
            <a:ext cx="203200" cy="203200"/>
          </a:xfrm>
          <a:prstGeom prst="diamond">
            <a:avLst/>
          </a:prstGeom>
          <a:solidFill>
            <a:srgbClr val="0D111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28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246120"/>
            <a:ext cx="355600" cy="177800"/>
          </a:xfrm>
          <a:prstGeom prst="roundRect">
            <a:avLst/>
          </a:prstGeom>
          <a:solidFill>
            <a:srgbClr val="0D1117"/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676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Exception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310128"/>
            <a:ext cx="355600" cy="254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8124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YES path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3310128"/>
            <a:ext cx="355600" cy="25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572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NO / Exception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3310128"/>
            <a:ext cx="355600" cy="2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90200" y="3493008"/>
            <a:ext cx="11430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94A3B8"/>
                </a:solidFill>
              </a:rPr>
              <a:t>Cross-lane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0" y="3957320"/>
            <a:ext cx="127000" cy="127000"/>
          </a:xfrm>
          <a:prstGeom prst="ellipse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7320" y="3931920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Supplier &amp; Factory MDM   –   EQOS · NeoGrid · SSUP Portal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0" y="4350512"/>
            <a:ext cx="127000" cy="127000"/>
          </a:xfrm>
          <a:prstGeom prst="ellipse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4325112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Purchase Order Creation   –   LM / MM · ISOS · OTM / BizTalk</a:t>
            </a:r>
          </a:p>
        </p:txBody>
      </p:sp>
      <p:sp>
        <p:nvSpPr>
          <p:cNvPr id="26" name="Oval 25"/>
          <p:cNvSpPr/>
          <p:nvPr/>
        </p:nvSpPr>
        <p:spPr>
          <a:xfrm>
            <a:off x="1188720" y="4743703"/>
            <a:ext cx="127000" cy="1270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4718303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Shipment Execution   –   OTM · BizTalk / RTA · FF Systems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0" y="5136895"/>
            <a:ext cx="127000" cy="127000"/>
          </a:xfrm>
          <a:prstGeom prst="ellipse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5111495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Product Invoice Processing   –   ISOS / OTM BM · Documentum · EDI → OFI · MS Access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0" y="5530087"/>
            <a:ext cx="127000" cy="1270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7320" y="5504687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Freight Self-Billing   –   MS Access DB · Rolling File · Oracle Fusion · Tungsten</a:t>
            </a:r>
          </a:p>
        </p:txBody>
      </p:sp>
      <p:sp>
        <p:nvSpPr>
          <p:cNvPr id="32" name="Oval 31"/>
          <p:cNvSpPr/>
          <p:nvPr/>
        </p:nvSpPr>
        <p:spPr>
          <a:xfrm>
            <a:off x="1188720" y="5923279"/>
            <a:ext cx="127000" cy="127000"/>
          </a:xfrm>
          <a:prstGeom prst="ellipse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5897879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AR &amp; Intercompany Billing   –   Oracle Fusion AR · RIMS (CE) · Oracle R12</a:t>
            </a:r>
          </a:p>
        </p:txBody>
      </p:sp>
      <p:sp>
        <p:nvSpPr>
          <p:cNvPr id="34" name="Oval 33"/>
          <p:cNvSpPr/>
          <p:nvPr/>
        </p:nvSpPr>
        <p:spPr>
          <a:xfrm>
            <a:off x="1188720" y="6316471"/>
            <a:ext cx="127000" cy="127000"/>
          </a:xfrm>
          <a:prstGeom prst="ellipse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17320" y="6291071"/>
            <a:ext cx="5029200" cy="17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FFFFFF"/>
                </a:solidFill>
              </a:rPr>
              <a:t>Customs &amp; Duty   –   OTM CSS/IMS · NBS/CM-UK · WTA Portal · DDA (TISL)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8619"/>
            <a:ext cx="12188952" cy="805178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8619"/>
            <a:ext cx="38100" cy="805178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48619"/>
            <a:ext cx="2666333" cy="8051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" y="1070043"/>
            <a:ext cx="2564733" cy="362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600" b="1">
                <a:solidFill>
                  <a:srgbClr val="00E5C0"/>
                </a:solidFill>
              </a:rPr>
              <a:t>Factory 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1291466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EQOS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" y="1382906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NeoGrid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" y="1474346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SSUP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64744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3797"/>
            <a:ext cx="12188952" cy="785540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53797"/>
            <a:ext cx="38100" cy="785540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53797"/>
            <a:ext cx="2666333" cy="78554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" y="1869820"/>
            <a:ext cx="2564733" cy="353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4FB3FF"/>
                </a:solidFill>
              </a:rPr>
              <a:t>Purchase Order</a:t>
            </a:r>
          </a:p>
          <a:p>
            <a:pPr algn="ctr"/>
            <a:r>
              <a:rPr sz="600" b="1">
                <a:solidFill>
                  <a:srgbClr val="4FB3FF"/>
                </a:solidFill>
              </a:rPr>
              <a:t>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" y="2085844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LM /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" y="2177284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" y="2268724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/ BizTalk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43298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439337"/>
            <a:ext cx="12188952" cy="736444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439337"/>
            <a:ext cx="38100" cy="7364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439337"/>
            <a:ext cx="2666333" cy="73644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2641859"/>
            <a:ext cx="2564733" cy="331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A78BFA"/>
                </a:solidFill>
              </a:rPr>
              <a:t>Shipment</a:t>
            </a:r>
          </a:p>
          <a:p>
            <a:pPr algn="ctr"/>
            <a:r>
              <a:rPr sz="600" b="1">
                <a:solidFill>
                  <a:srgbClr val="A78BFA"/>
                </a:solidFill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" y="2844381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2935821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BizTalk / 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" y="3027261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FF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16943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175781"/>
            <a:ext cx="12188952" cy="1104666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175781"/>
            <a:ext cx="38100" cy="110466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175781"/>
            <a:ext cx="2666333" cy="110466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3479564"/>
            <a:ext cx="2564733" cy="4970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D04A"/>
                </a:solidFill>
              </a:rPr>
              <a:t>Product Invoice</a:t>
            </a:r>
          </a:p>
          <a:p>
            <a:pPr algn="ctr"/>
            <a:r>
              <a:rPr sz="60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" y="3783347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 / OTM 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" y="3874787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Documentum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" y="3966227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EDI → OFI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" y="4057667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27409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280447"/>
            <a:ext cx="12188952" cy="957376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280447"/>
            <a:ext cx="38100" cy="9573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280447"/>
            <a:ext cx="2666333" cy="95737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4543725"/>
            <a:ext cx="2564733" cy="4308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60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" y="4807003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" y="4898443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Rolling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" y="4989883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" y="5081323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Tungsten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231473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5237823"/>
            <a:ext cx="12188952" cy="687348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237823"/>
            <a:ext cx="38100" cy="687348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237823"/>
            <a:ext cx="2666333" cy="68734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" y="5426844"/>
            <a:ext cx="2564733" cy="3093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C57BFF"/>
                </a:solidFill>
              </a:rPr>
              <a:t>AR &amp; Intercompany</a:t>
            </a:r>
          </a:p>
          <a:p>
            <a:pPr algn="ctr"/>
            <a:r>
              <a:rPr sz="600" b="1">
                <a:solidFill>
                  <a:srgbClr val="C57BFF"/>
                </a:solidFill>
              </a:rPr>
              <a:t>Billing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" y="5615864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 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" y="5707304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RIMS (CE)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" y="5798744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R12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91882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5925171"/>
            <a:ext cx="12188952" cy="908280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925171"/>
            <a:ext cx="38100" cy="908280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5925171"/>
            <a:ext cx="2666333" cy="90828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00" y="6174948"/>
            <a:ext cx="2564733" cy="4087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52E67A"/>
                </a:solidFill>
              </a:rPr>
              <a:t>Customs &amp;</a:t>
            </a:r>
          </a:p>
          <a:p>
            <a:pPr algn="ctr"/>
            <a:r>
              <a:rPr sz="600" b="1">
                <a:solidFill>
                  <a:srgbClr val="52E67A"/>
                </a:solidFill>
              </a:rPr>
              <a:t>Duty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" y="6424725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CSS/IMS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00" y="6516165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NBS/CM-UK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" y="6607605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WTA Portal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" y="6699045"/>
            <a:ext cx="2539333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DDA (TISL)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710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666333" y="0"/>
            <a:ext cx="4824793" cy="475488"/>
          </a:xfrm>
          <a:prstGeom prst="rect">
            <a:avLst/>
          </a:prstGeom>
          <a:solidFill>
            <a:srgbClr val="00E5C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17133" y="0"/>
            <a:ext cx="4723193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00E5C0"/>
                </a:solidFill>
              </a:rPr>
              <a:t>Supplier</a:t>
            </a:r>
          </a:p>
          <a:p>
            <a:pPr algn="ctr"/>
            <a:r>
              <a:rPr sz="700" b="1">
                <a:solidFill>
                  <a:srgbClr val="00E5C0"/>
                </a:solidFill>
              </a:rPr>
              <a:t>Onboarding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84776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491126" y="0"/>
            <a:ext cx="4697826" cy="475488"/>
          </a:xfrm>
          <a:prstGeom prst="rect">
            <a:avLst/>
          </a:prstGeom>
          <a:solidFill>
            <a:srgbClr val="4FB3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41926" y="0"/>
            <a:ext cx="4596226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4FB3FF"/>
                </a:solidFill>
              </a:rPr>
              <a:t>Purchase Order</a:t>
            </a:r>
          </a:p>
          <a:p>
            <a:pPr algn="ctr"/>
            <a:r>
              <a:rPr sz="700" b="1">
                <a:solidFill>
                  <a:srgbClr val="4FB3FF"/>
                </a:solidFill>
              </a:rPr>
              <a:t>Creation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182602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0" y="0"/>
            <a:ext cx="2666333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SWIM LANE  / 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" y="5080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2  |  Phase 1-2  |  Supplier Onboarding  →  Purchase Order Creation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256485" y="1251208"/>
            <a:ext cx="48247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465733" y="1251208"/>
            <a:ext cx="609447" cy="0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450416" y="114148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73" name="Connector 72"/>
          <p:cNvCxnSpPr/>
          <p:nvPr/>
        </p:nvCxnSpPr>
        <p:spPr>
          <a:xfrm flipV="1">
            <a:off x="6602349" y="1467232"/>
            <a:ext cx="0" cy="117831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282309" y="1416419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cxnSp>
        <p:nvCxnSpPr>
          <p:cNvPr id="75" name="Connector 74"/>
          <p:cNvCxnSpPr/>
          <p:nvPr/>
        </p:nvCxnSpPr>
        <p:spPr>
          <a:xfrm flipV="1">
            <a:off x="5662783" y="1251208"/>
            <a:ext cx="76181" cy="304397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5380833" y="129367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retry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9954310" y="1251208"/>
            <a:ext cx="40629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300174" y="1364130"/>
            <a:ext cx="126968" cy="348583"/>
          </a:xfrm>
          <a:prstGeom prst="bentConnector3">
            <a:avLst/>
          </a:prstGeom>
          <a:ln w="1524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043618" y="1428693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EQOS→ISOS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827342" y="2046567"/>
            <a:ext cx="736416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2188952" y="2046567"/>
            <a:ext cx="101574" cy="0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11919699" y="1936839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83" name="Connector 82"/>
          <p:cNvCxnSpPr/>
          <p:nvPr/>
        </p:nvCxnSpPr>
        <p:spPr>
          <a:xfrm flipV="1">
            <a:off x="11427142" y="2252772"/>
            <a:ext cx="0" cy="127650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11107102" y="2206869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377355" y="1138287"/>
            <a:ext cx="1879130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SSUP: Collect Docs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&amp; Submit via NeoGrid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77355" y="1376829"/>
            <a:ext cx="187913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NeoGrid · SSUP Portal</a:t>
            </a:r>
          </a:p>
        </p:txBody>
      </p:sp>
      <p:sp>
        <p:nvSpPr>
          <p:cNvPr id="87" name="Diamond 86"/>
          <p:cNvSpPr/>
          <p:nvPr/>
        </p:nvSpPr>
        <p:spPr>
          <a:xfrm>
            <a:off x="5738965" y="917354"/>
            <a:ext cx="1726768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MDM Validation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OK?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38965" y="1597762"/>
            <a:ext cx="1726768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EQOS · NeoGrid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2784" y="1467232"/>
            <a:ext cx="1879130" cy="176746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Gaps Flagged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↑ SSUP Resolves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2784" y="1656678"/>
            <a:ext cx="187913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NeoGrid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75180" y="1138287"/>
            <a:ext cx="1879130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Supplier/Factory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Created in EQOS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75180" y="1376829"/>
            <a:ext cx="187913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EQOS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360609" y="1138287"/>
            <a:ext cx="1879130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EQOS → OFI (weekly)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+ ISOS (15-min push)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60609" y="1376829"/>
            <a:ext cx="187913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EQOS → OFI · ISOS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948212" y="1933646"/>
            <a:ext cx="1879130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4F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Buyer Creates PO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in LM / MM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48212" y="2172188"/>
            <a:ext cx="187913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LM · MM System</a:t>
            </a:r>
          </a:p>
        </p:txBody>
      </p:sp>
      <p:sp>
        <p:nvSpPr>
          <p:cNvPr id="97" name="Diamond 96"/>
          <p:cNvSpPr/>
          <p:nvPr/>
        </p:nvSpPr>
        <p:spPr>
          <a:xfrm>
            <a:off x="10563758" y="1712713"/>
            <a:ext cx="1726768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ISOS: Factory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Compliant &amp; Valid?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563758" y="2393121"/>
            <a:ext cx="1726768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 · EQOS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87577" y="2252772"/>
            <a:ext cx="1879130" cy="176746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ISOS Cancels PO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(LM not notified)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87577" y="2442218"/>
            <a:ext cx="1879130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8619"/>
            <a:ext cx="12188952" cy="805178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8619"/>
            <a:ext cx="38100" cy="805178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48619"/>
            <a:ext cx="2752344" cy="8051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" y="1070043"/>
            <a:ext cx="2650744" cy="362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600" b="1">
                <a:solidFill>
                  <a:srgbClr val="00E5C0"/>
                </a:solidFill>
              </a:rPr>
              <a:t>Factory 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1291466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EQOS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" y="1382906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NeoGrid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" y="1474346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SSUP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64744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3797"/>
            <a:ext cx="12188952" cy="785540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53797"/>
            <a:ext cx="38100" cy="785540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53797"/>
            <a:ext cx="2752344" cy="78554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" y="1869820"/>
            <a:ext cx="2650744" cy="353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4FB3FF"/>
                </a:solidFill>
              </a:rPr>
              <a:t>Purchase Order</a:t>
            </a:r>
          </a:p>
          <a:p>
            <a:pPr algn="ctr"/>
            <a:r>
              <a:rPr sz="600" b="1">
                <a:solidFill>
                  <a:srgbClr val="4FB3FF"/>
                </a:solidFill>
              </a:rPr>
              <a:t>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" y="2085844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LM /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" y="2177284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" y="2268724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/ BizTalk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43298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439337"/>
            <a:ext cx="12188952" cy="736444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439337"/>
            <a:ext cx="38100" cy="7364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439337"/>
            <a:ext cx="2752344" cy="73644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2641859"/>
            <a:ext cx="2650744" cy="331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A78BFA"/>
                </a:solidFill>
              </a:rPr>
              <a:t>Shipment</a:t>
            </a:r>
          </a:p>
          <a:p>
            <a:pPr algn="ctr"/>
            <a:r>
              <a:rPr sz="600" b="1">
                <a:solidFill>
                  <a:srgbClr val="A78BFA"/>
                </a:solidFill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" y="2844381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2935821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BizTalk / 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" y="3027261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FF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16943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175781"/>
            <a:ext cx="12188952" cy="1104666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175781"/>
            <a:ext cx="38100" cy="110466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175781"/>
            <a:ext cx="2752344" cy="110466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3479564"/>
            <a:ext cx="2650744" cy="4970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D04A"/>
                </a:solidFill>
              </a:rPr>
              <a:t>Product Invoice</a:t>
            </a:r>
          </a:p>
          <a:p>
            <a:pPr algn="ctr"/>
            <a:r>
              <a:rPr sz="60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" y="3783347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 / OTM 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" y="3874787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Documentum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" y="3966227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EDI → OFI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" y="4057667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27409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280447"/>
            <a:ext cx="12188952" cy="957376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280447"/>
            <a:ext cx="38100" cy="9573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280447"/>
            <a:ext cx="2752344" cy="95737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4543725"/>
            <a:ext cx="2650744" cy="4308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60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" y="4807003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" y="4898443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Rolling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" y="4989883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" y="5081323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Tungsten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231473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5237823"/>
            <a:ext cx="12188952" cy="687348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237823"/>
            <a:ext cx="38100" cy="687348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237823"/>
            <a:ext cx="2752344" cy="68734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" y="5426844"/>
            <a:ext cx="2650744" cy="3093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C57BFF"/>
                </a:solidFill>
              </a:rPr>
              <a:t>AR &amp; Intercompany</a:t>
            </a:r>
          </a:p>
          <a:p>
            <a:pPr algn="ctr"/>
            <a:r>
              <a:rPr sz="600" b="1">
                <a:solidFill>
                  <a:srgbClr val="C57BFF"/>
                </a:solidFill>
              </a:rPr>
              <a:t>Billing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" y="5615864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 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" y="5707304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RIMS (CE)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" y="5798744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R12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91882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5925171"/>
            <a:ext cx="12188952" cy="908280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925171"/>
            <a:ext cx="38100" cy="908280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5925171"/>
            <a:ext cx="2752344" cy="90828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00" y="6174948"/>
            <a:ext cx="2650744" cy="4087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52E67A"/>
                </a:solidFill>
              </a:rPr>
              <a:t>Customs &amp;</a:t>
            </a:r>
          </a:p>
          <a:p>
            <a:pPr algn="ctr"/>
            <a:r>
              <a:rPr sz="600" b="1">
                <a:solidFill>
                  <a:srgbClr val="52E67A"/>
                </a:solidFill>
              </a:rPr>
              <a:t>Duty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" y="6424725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CSS/IMS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00" y="6516165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NBS/CM-UK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" y="6607605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WTA Portal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" y="6699045"/>
            <a:ext cx="2625344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DDA (TISL)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710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752344" y="0"/>
            <a:ext cx="4587240" cy="475488"/>
          </a:xfrm>
          <a:prstGeom prst="rect">
            <a:avLst/>
          </a:prstGeom>
          <a:solidFill>
            <a:srgbClr val="A78BF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03144" y="0"/>
            <a:ext cx="448564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A78BFA"/>
                </a:solidFill>
              </a:rPr>
              <a:t>Shipment</a:t>
            </a:r>
          </a:p>
          <a:p>
            <a:pPr algn="ctr"/>
            <a:r>
              <a:rPr sz="700" b="1">
                <a:solidFill>
                  <a:srgbClr val="A78BFA"/>
                </a:solidFill>
              </a:rPr>
              <a:t>Execution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33234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339584" y="0"/>
            <a:ext cx="4849368" cy="475488"/>
          </a:xfrm>
          <a:prstGeom prst="rect">
            <a:avLst/>
          </a:prstGeom>
          <a:solidFill>
            <a:srgbClr val="FFD04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90384" y="0"/>
            <a:ext cx="4747768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D04A"/>
                </a:solidFill>
              </a:rPr>
              <a:t>Invoice</a:t>
            </a:r>
          </a:p>
          <a:p>
            <a:pPr algn="ctr"/>
            <a:r>
              <a:rPr sz="700" b="1">
                <a:solidFill>
                  <a:srgbClr val="FFD04A"/>
                </a:solidFill>
              </a:rPr>
              <a:t>Preparation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182602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0" y="0"/>
            <a:ext cx="2752344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SWIM LANE  / 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" y="5080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3  |  Phase 3-4  |  Shipment Execution  →  Invoice Preparation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426049" y="2046567"/>
            <a:ext cx="419405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062984" y="2159489"/>
            <a:ext cx="2752344" cy="535149"/>
          </a:xfrm>
          <a:prstGeom prst="bentConnector3">
            <a:avLst/>
          </a:prstGeom>
          <a:ln w="1524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119116" y="2317335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PO→Ship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032857" y="2807559"/>
            <a:ext cx="288341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260945" y="2807559"/>
            <a:ext cx="288341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489033" y="2807559"/>
            <a:ext cx="419405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519160" y="2920481"/>
            <a:ext cx="393192" cy="694711"/>
          </a:xfrm>
          <a:prstGeom prst="bentConnector3">
            <a:avLst/>
          </a:prstGeom>
          <a:ln w="1524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395716" y="3158108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IV0 via BizTalk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878312" y="2920481"/>
            <a:ext cx="1310640" cy="1725733"/>
          </a:xfrm>
          <a:prstGeom prst="bentConnector3">
            <a:avLst/>
          </a:prstGeom>
          <a:ln w="1524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213592" y="3673619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OTM All File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882225" y="3728114"/>
            <a:ext cx="55046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12188952" y="3728114"/>
            <a:ext cx="18348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12188952" y="4759135"/>
            <a:ext cx="969873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3486303" y="1933646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4F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ISOS Enriches PO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+ Assigns FF/LSP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86303" y="2172188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845455" y="1933646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PO → OTM +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Supplier (PDF via OTM)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45455" y="2172188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 · BizTalk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093111" y="2694638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Origin FF: FOB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Handover → SM1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093111" y="2933180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FF Systems · BizTalk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321199" y="2694638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ISOS: SM1 Processed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(version filtering)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1199" y="2933180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 · BizTalk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7549287" y="2694638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SM2 → OTM: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Shipment Confirmed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549287" y="2933180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 → OTM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908439" y="2694638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OTM Daily Inbound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All File Generated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908439" y="2933180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942479" y="3615193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D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FF → IV0 via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BizTalk → ISOS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42479" y="3853735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BizTalk → ISOS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432695" y="3615193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D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Supplier PDF →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Documentum (manual)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32695" y="3853735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Documentum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1219079" y="4646214"/>
            <a:ext cx="1939747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OTM Inbound File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→ MS Access DB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1219079" y="4884756"/>
            <a:ext cx="1939747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 → MS Access 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8619"/>
            <a:ext cx="12188952" cy="805178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8619"/>
            <a:ext cx="38100" cy="805178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48619"/>
            <a:ext cx="2585535" cy="8051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" y="1070043"/>
            <a:ext cx="2483935" cy="362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600" b="1">
                <a:solidFill>
                  <a:srgbClr val="00E5C0"/>
                </a:solidFill>
              </a:rPr>
              <a:t>Factory 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1291466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EQOS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" y="1382906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NeoGrid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" y="1474346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SSUP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64744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3797"/>
            <a:ext cx="12188952" cy="785540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53797"/>
            <a:ext cx="38100" cy="785540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53797"/>
            <a:ext cx="2585535" cy="78554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" y="1869820"/>
            <a:ext cx="2483935" cy="353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4FB3FF"/>
                </a:solidFill>
              </a:rPr>
              <a:t>Purchase Order</a:t>
            </a:r>
          </a:p>
          <a:p>
            <a:pPr algn="ctr"/>
            <a:r>
              <a:rPr sz="600" b="1">
                <a:solidFill>
                  <a:srgbClr val="4FB3FF"/>
                </a:solidFill>
              </a:rPr>
              <a:t>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" y="2085844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LM /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" y="2177284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" y="2268724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/ BizTalk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43298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439337"/>
            <a:ext cx="12188952" cy="736444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439337"/>
            <a:ext cx="38100" cy="7364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439337"/>
            <a:ext cx="2585535" cy="73644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2641859"/>
            <a:ext cx="2483935" cy="331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A78BFA"/>
                </a:solidFill>
              </a:rPr>
              <a:t>Shipment</a:t>
            </a:r>
          </a:p>
          <a:p>
            <a:pPr algn="ctr"/>
            <a:r>
              <a:rPr sz="600" b="1">
                <a:solidFill>
                  <a:srgbClr val="A78BFA"/>
                </a:solidFill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" y="2844381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2935821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BizTalk / 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" y="3027261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FF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16943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175781"/>
            <a:ext cx="12188952" cy="1104666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175781"/>
            <a:ext cx="38100" cy="110466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175781"/>
            <a:ext cx="2585535" cy="110466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3479564"/>
            <a:ext cx="2483935" cy="4970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D04A"/>
                </a:solidFill>
              </a:rPr>
              <a:t>Product Invoice</a:t>
            </a:r>
          </a:p>
          <a:p>
            <a:pPr algn="ctr"/>
            <a:r>
              <a:rPr sz="60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" y="3783347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 / OTM 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" y="3874787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Documentum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" y="3966227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EDI → OFI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" y="4057667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27409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280447"/>
            <a:ext cx="12188952" cy="957376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280447"/>
            <a:ext cx="38100" cy="9573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280447"/>
            <a:ext cx="2585535" cy="95737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4543725"/>
            <a:ext cx="2483935" cy="4308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60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" y="4807003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" y="4898443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Rolling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" y="4989883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" y="5081323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Tungsten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231473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5237823"/>
            <a:ext cx="12188952" cy="687348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237823"/>
            <a:ext cx="38100" cy="687348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237823"/>
            <a:ext cx="2585535" cy="68734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" y="5426844"/>
            <a:ext cx="2483935" cy="3093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C57BFF"/>
                </a:solidFill>
              </a:rPr>
              <a:t>AR &amp; Intercompany</a:t>
            </a:r>
          </a:p>
          <a:p>
            <a:pPr algn="ctr"/>
            <a:r>
              <a:rPr sz="600" b="1">
                <a:solidFill>
                  <a:srgbClr val="C57BFF"/>
                </a:solidFill>
              </a:rPr>
              <a:t>Billing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" y="5615864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 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" y="5707304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RIMS (CE)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" y="5798744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R12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91882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5925171"/>
            <a:ext cx="12188952" cy="908280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925171"/>
            <a:ext cx="38100" cy="908280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5925171"/>
            <a:ext cx="2585535" cy="90828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00" y="6174948"/>
            <a:ext cx="2483935" cy="4087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52E67A"/>
                </a:solidFill>
              </a:rPr>
              <a:t>Customs &amp;</a:t>
            </a:r>
          </a:p>
          <a:p>
            <a:pPr algn="ctr"/>
            <a:r>
              <a:rPr sz="600" b="1">
                <a:solidFill>
                  <a:srgbClr val="52E67A"/>
                </a:solidFill>
              </a:rPr>
              <a:t>Duty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" y="6424725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CSS/IMS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00" y="6516165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NBS/CM-UK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" y="6607605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WTA Portal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" y="6699045"/>
            <a:ext cx="2458535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DDA (TISL)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710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85535" y="0"/>
            <a:ext cx="4678587" cy="475488"/>
          </a:xfrm>
          <a:prstGeom prst="rect">
            <a:avLst/>
          </a:prstGeom>
          <a:solidFill>
            <a:srgbClr val="FF6B6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36335" y="0"/>
            <a:ext cx="4576987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FF6B6B"/>
                </a:solidFill>
              </a:rPr>
              <a:t>Cost Validation</a:t>
            </a:r>
          </a:p>
          <a:p>
            <a:pPr algn="ctr"/>
            <a:r>
              <a:rPr sz="700" b="1">
                <a:solidFill>
                  <a:srgbClr val="FF6B6B"/>
                </a:solidFill>
              </a:rPr>
              <a:t>&amp; Agreement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57772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64122" y="0"/>
            <a:ext cx="4924830" cy="475488"/>
          </a:xfrm>
          <a:prstGeom prst="rect">
            <a:avLst/>
          </a:prstGeom>
          <a:solidFill>
            <a:srgbClr val="C57B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4922" y="0"/>
            <a:ext cx="482323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C57BFF"/>
                </a:solidFill>
              </a:rPr>
              <a:t>PO Raise &amp;</a:t>
            </a:r>
          </a:p>
          <a:p>
            <a:pPr algn="ctr"/>
            <a:r>
              <a:rPr sz="700" b="1">
                <a:solidFill>
                  <a:srgbClr val="C57BFF"/>
                </a:solidFill>
              </a:rPr>
              <a:t>Submission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182602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0" y="0"/>
            <a:ext cx="2585535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SWIM LANE  / 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" y="5080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4  |  Phase 5-6  |  Cost Validation  →  PO Raise &amp; Submission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4900204" y="3728114"/>
            <a:ext cx="590980" cy="0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4875654" y="361838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72" name="Connector 71"/>
          <p:cNvCxnSpPr/>
          <p:nvPr/>
        </p:nvCxnSpPr>
        <p:spPr>
          <a:xfrm flipV="1">
            <a:off x="4062984" y="4042330"/>
            <a:ext cx="0" cy="19638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742944" y="3942421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3151890" y="3728114"/>
            <a:ext cx="73873" cy="402589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2868786" y="381968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resolved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313371" y="3728114"/>
            <a:ext cx="393986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9529544" y="3728114"/>
            <a:ext cx="59097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1794965" y="3728114"/>
            <a:ext cx="393987" cy="0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11671918" y="361838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10957744" y="4042330"/>
            <a:ext cx="0" cy="19638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637704" y="3942421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cxnSp>
        <p:nvCxnSpPr>
          <p:cNvPr id="82" name="Connector 81"/>
          <p:cNvCxnSpPr/>
          <p:nvPr/>
        </p:nvCxnSpPr>
        <p:spPr>
          <a:xfrm flipV="1">
            <a:off x="10046651" y="3728114"/>
            <a:ext cx="73872" cy="402589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763547" y="381968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resubmit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3496628" y="4759135"/>
            <a:ext cx="393986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712801" y="4759135"/>
            <a:ext cx="270866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805854" y="4759135"/>
            <a:ext cx="270865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9898906" y="4759135"/>
            <a:ext cx="46785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2041207" y="4759135"/>
            <a:ext cx="147745" cy="0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795039" y="4649407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90" name="Connector 89"/>
          <p:cNvCxnSpPr/>
          <p:nvPr/>
        </p:nvCxnSpPr>
        <p:spPr>
          <a:xfrm flipV="1">
            <a:off x="11203986" y="5053712"/>
            <a:ext cx="0" cy="39277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0883946" y="496362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cxnSp>
        <p:nvCxnSpPr>
          <p:cNvPr id="92" name="Connector 91"/>
          <p:cNvCxnSpPr/>
          <p:nvPr/>
        </p:nvCxnSpPr>
        <p:spPr>
          <a:xfrm flipV="1">
            <a:off x="10292892" y="4759135"/>
            <a:ext cx="73873" cy="382951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10009788" y="484088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resolved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1130113" y="6379311"/>
            <a:ext cx="517107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Diamond 94"/>
          <p:cNvSpPr/>
          <p:nvPr/>
        </p:nvSpPr>
        <p:spPr>
          <a:xfrm>
            <a:off x="3225764" y="3394260"/>
            <a:ext cx="1674441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ISOS: PO Cost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= IV0 Cost?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25764" y="4074668"/>
            <a:ext cx="1674441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 · OTM BM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151891" y="4042330"/>
            <a:ext cx="1822186" cy="176746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OTM BM: Buyer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Resolves Cost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151891" y="4231776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 · BizTalk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5491184" y="3615193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D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ISOS 78-col Extract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(Approved POs only)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91184" y="3853735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ISOS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707357" y="3615193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EDI: 78→69-col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CSV (OFI format)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707357" y="3853735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EDI</a:t>
            </a:r>
          </a:p>
        </p:txBody>
      </p:sp>
      <p:sp>
        <p:nvSpPr>
          <p:cNvPr id="103" name="Diamond 102"/>
          <p:cNvSpPr/>
          <p:nvPr/>
        </p:nvSpPr>
        <p:spPr>
          <a:xfrm>
            <a:off x="10120524" y="3394260"/>
            <a:ext cx="1674441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MS Access 3-way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Match OK?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120524" y="4074668"/>
            <a:ext cx="1674441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MS Access · Documentum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10046651" y="4042330"/>
            <a:ext cx="1822186" cy="176746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DQ Exception: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FF / Supplier Corrects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46651" y="4231776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DQ Process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674442" y="4646214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OTM Inbound File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→ MS Access DB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674442" y="4884756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 → MS Access DB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890615" y="4646214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Monday: Extract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Weekly File / Carrier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890615" y="4884756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MS Access DB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83667" y="4646214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Clean &amp; Load into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Rolling File (Excel)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983667" y="4884756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Excel Rolling File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076720" y="4646214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Email Invoice File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Carrier for Review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76720" y="4884756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Outlook · Excel</a:t>
            </a:r>
          </a:p>
        </p:txBody>
      </p:sp>
      <p:sp>
        <p:nvSpPr>
          <p:cNvPr id="115" name="Diamond 114"/>
          <p:cNvSpPr/>
          <p:nvPr/>
        </p:nvSpPr>
        <p:spPr>
          <a:xfrm>
            <a:off x="10366766" y="4425281"/>
            <a:ext cx="1674441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Carrier Confirms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Costs?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66766" y="5105689"/>
            <a:ext cx="1674441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Excel · Email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10292893" y="5053713"/>
            <a:ext cx="1822186" cy="176746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Rate Card Check: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↑ Discrepancy Resolved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292893" y="5243159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Rate Card · Email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9307927" y="6266390"/>
            <a:ext cx="1822186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OTM → CSS Auto-sent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to WTA (pre-arrival)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307927" y="6504932"/>
            <a:ext cx="1822186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 → WTA Portal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306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8619"/>
            <a:ext cx="12188952" cy="805178"/>
          </a:xfrm>
          <a:prstGeom prst="rect">
            <a:avLst/>
          </a:prstGeom>
          <a:solidFill>
            <a:srgbClr val="00E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8619"/>
            <a:ext cx="38100" cy="805178"/>
          </a:xfrm>
          <a:prstGeom prst="rect">
            <a:avLst/>
          </a:prstGeom>
          <a:solidFill>
            <a:srgbClr val="00E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848619"/>
            <a:ext cx="2015496" cy="80517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" y="1070043"/>
            <a:ext cx="1913896" cy="3623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00E5C0"/>
                </a:solidFill>
              </a:rPr>
              <a:t>Supplier &amp;</a:t>
            </a:r>
          </a:p>
          <a:p>
            <a:pPr algn="ctr"/>
            <a:r>
              <a:rPr sz="600" b="1">
                <a:solidFill>
                  <a:srgbClr val="00E5C0"/>
                </a:solidFill>
              </a:rPr>
              <a:t>Factory MDM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1291466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EQOS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" y="1382906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NeoGrid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" y="1474346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SSUP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64744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653797"/>
            <a:ext cx="12188952" cy="785540"/>
          </a:xfrm>
          <a:prstGeom prst="rect">
            <a:avLst/>
          </a:prstGeom>
          <a:solidFill>
            <a:srgbClr val="4FB3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653797"/>
            <a:ext cx="38100" cy="785540"/>
          </a:xfrm>
          <a:prstGeom prst="rect">
            <a:avLst/>
          </a:prstGeom>
          <a:solidFill>
            <a:srgbClr val="4F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653797"/>
            <a:ext cx="2015496" cy="78554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" y="1869820"/>
            <a:ext cx="1913896" cy="3534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4FB3FF"/>
                </a:solidFill>
              </a:rPr>
              <a:t>Purchase Order</a:t>
            </a:r>
          </a:p>
          <a:p>
            <a:pPr algn="ctr"/>
            <a:r>
              <a:rPr sz="600" b="1">
                <a:solidFill>
                  <a:srgbClr val="4FB3FF"/>
                </a:solidFill>
              </a:rPr>
              <a:t>Creation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" y="2085844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LM /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" y="2177284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" y="2268724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/ BizTalk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43298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439337"/>
            <a:ext cx="12188952" cy="736444"/>
          </a:xfrm>
          <a:prstGeom prst="rect">
            <a:avLst/>
          </a:prstGeom>
          <a:solidFill>
            <a:srgbClr val="A78BF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439337"/>
            <a:ext cx="38100" cy="73644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439337"/>
            <a:ext cx="2015496" cy="736444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00" y="2641859"/>
            <a:ext cx="1913896" cy="331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A78BFA"/>
                </a:solidFill>
              </a:rPr>
              <a:t>Shipment</a:t>
            </a:r>
          </a:p>
          <a:p>
            <a:pPr algn="ctr"/>
            <a:r>
              <a:rPr sz="600" b="1">
                <a:solidFill>
                  <a:srgbClr val="A78BFA"/>
                </a:solidFill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" y="2844381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" y="2935821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BizTalk / RTA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" y="3027261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FF Systems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316943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175781"/>
            <a:ext cx="12188952" cy="1104666"/>
          </a:xfrm>
          <a:prstGeom prst="rect">
            <a:avLst/>
          </a:prstGeom>
          <a:solidFill>
            <a:srgbClr val="FFD04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175781"/>
            <a:ext cx="38100" cy="1104666"/>
          </a:xfrm>
          <a:prstGeom prst="rect">
            <a:avLst/>
          </a:prstGeom>
          <a:solidFill>
            <a:srgbClr val="FFD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175781"/>
            <a:ext cx="2015496" cy="110466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" y="3479564"/>
            <a:ext cx="1913896" cy="4970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D04A"/>
                </a:solidFill>
              </a:rPr>
              <a:t>Product Invoice</a:t>
            </a:r>
          </a:p>
          <a:p>
            <a:pPr algn="ctr"/>
            <a:r>
              <a:rPr sz="600" b="1">
                <a:solidFill>
                  <a:srgbClr val="FFD04A"/>
                </a:solidFill>
              </a:rP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" y="3783347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ISOS / OTM 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" y="3874787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Documentum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200" y="3966227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EDI → OFI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" y="4057667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274097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280447"/>
            <a:ext cx="12188952" cy="957376"/>
          </a:xfrm>
          <a:prstGeom prst="rect">
            <a:avLst/>
          </a:prstGeom>
          <a:solidFill>
            <a:srgbClr val="FF6B6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280447"/>
            <a:ext cx="38100" cy="9573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280447"/>
            <a:ext cx="2015496" cy="957376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200" y="4543725"/>
            <a:ext cx="1913896" cy="4308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FF6B6B"/>
                </a:solidFill>
              </a:rPr>
              <a:t>Freight</a:t>
            </a:r>
          </a:p>
          <a:p>
            <a:pPr algn="ctr"/>
            <a:r>
              <a:rPr sz="600" b="1">
                <a:solidFill>
                  <a:srgbClr val="FF6B6B"/>
                </a:solidFill>
              </a:rPr>
              <a:t>Self-Billing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" y="4807003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MS Access 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" y="4898443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Rolling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" y="4989883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00" y="5081323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Tungsten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231473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5237823"/>
            <a:ext cx="12188952" cy="687348"/>
          </a:xfrm>
          <a:prstGeom prst="rect">
            <a:avLst/>
          </a:prstGeom>
          <a:solidFill>
            <a:srgbClr val="C57B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237823"/>
            <a:ext cx="38100" cy="687348"/>
          </a:xfrm>
          <a:prstGeom prst="rect">
            <a:avLst/>
          </a:prstGeom>
          <a:solidFill>
            <a:srgbClr val="C5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237823"/>
            <a:ext cx="2015496" cy="687348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00" y="5426844"/>
            <a:ext cx="1913896" cy="3093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C57BFF"/>
                </a:solidFill>
              </a:rPr>
              <a:t>AR &amp; Intercompany</a:t>
            </a:r>
          </a:p>
          <a:p>
            <a:pPr algn="ctr"/>
            <a:r>
              <a:rPr sz="600" b="1">
                <a:solidFill>
                  <a:srgbClr val="C57BFF"/>
                </a:solidFill>
              </a:rPr>
              <a:t>Billing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" y="5615864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Fusion 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" y="5707304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RIMS (CE)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00" y="5798744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Oracle R12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91882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5925171"/>
            <a:ext cx="12188952" cy="908280"/>
          </a:xfrm>
          <a:prstGeom prst="rect">
            <a:avLst/>
          </a:prstGeom>
          <a:solidFill>
            <a:srgbClr val="52E67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5925171"/>
            <a:ext cx="38100" cy="908280"/>
          </a:xfrm>
          <a:prstGeom prst="rect">
            <a:avLst/>
          </a:prstGeom>
          <a:solidFill>
            <a:srgbClr val="52E6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5925171"/>
            <a:ext cx="2015496" cy="908280"/>
          </a:xfrm>
          <a:prstGeom prst="rect">
            <a:avLst/>
          </a:prstGeom>
          <a:solidFill>
            <a:srgbClr val="03060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200" y="6174948"/>
            <a:ext cx="1913896" cy="40872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" b="1">
                <a:solidFill>
                  <a:srgbClr val="52E67A"/>
                </a:solidFill>
              </a:rPr>
              <a:t>Customs &amp;</a:t>
            </a:r>
          </a:p>
          <a:p>
            <a:pPr algn="ctr"/>
            <a:r>
              <a:rPr sz="600" b="1">
                <a:solidFill>
                  <a:srgbClr val="52E67A"/>
                </a:solidFill>
              </a:rPr>
              <a:t>Duty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00" y="6424725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OTM CSS/IMS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200" y="6516165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NBS/CM-UK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" y="6607605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WTA Portal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200" y="6699045"/>
            <a:ext cx="1888496" cy="82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4E6280"/>
                </a:solidFill>
              </a:rPr>
              <a:t>DDA (TISL)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7101"/>
            <a:ext cx="12188952" cy="63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15496" y="0"/>
            <a:ext cx="3743064" cy="475488"/>
          </a:xfrm>
          <a:prstGeom prst="rect">
            <a:avLst/>
          </a:prstGeom>
          <a:solidFill>
            <a:srgbClr val="52E67A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66296" y="0"/>
            <a:ext cx="3641464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52E67A"/>
                </a:solidFill>
              </a:rPr>
              <a:t>Payment &amp;</a:t>
            </a:r>
          </a:p>
          <a:p>
            <a:pPr algn="ctr"/>
            <a:r>
              <a:rPr sz="700" b="1">
                <a:solidFill>
                  <a:srgbClr val="52E67A"/>
                </a:solidFill>
              </a:rPr>
              <a:t>AR Billing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52210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58560" y="0"/>
            <a:ext cx="6430392" cy="475488"/>
          </a:xfrm>
          <a:prstGeom prst="rect">
            <a:avLst/>
          </a:prstGeom>
          <a:solidFill>
            <a:srgbClr val="38C6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09360" y="0"/>
            <a:ext cx="632879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00" b="1">
                <a:solidFill>
                  <a:srgbClr val="38C6FF"/>
                </a:solidFill>
              </a:rPr>
              <a:t>Customs Clearance</a:t>
            </a:r>
          </a:p>
          <a:p>
            <a:pPr algn="ctr"/>
            <a:r>
              <a:rPr sz="700" b="1">
                <a:solidFill>
                  <a:srgbClr val="38C6FF"/>
                </a:solidFill>
              </a:rPr>
              <a:t>&amp; Duty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182602" y="0"/>
            <a:ext cx="6350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0" y="0"/>
            <a:ext cx="2015496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600" b="1">
                <a:solidFill>
                  <a:srgbClr val="94A3B8"/>
                </a:solidFill>
              </a:rPr>
              <a:t>SWIM LANE  /  SYSTEM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00" y="5080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>
                <a:solidFill>
                  <a:srgbClr val="00E5C0"/>
                </a:solidFill>
              </a:rPr>
              <a:t>Slide 5  |  Phase 7-8  |  Payment &amp; AR Billing  →  Customs Clearance &amp; Duty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493526" y="3728114"/>
            <a:ext cx="307123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783304" y="3841035"/>
            <a:ext cx="671832" cy="1627541"/>
          </a:xfrm>
          <a:prstGeom prst="bentConnector3">
            <a:avLst/>
          </a:prstGeom>
          <a:ln w="1524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2799180" y="4545077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AP→AR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2303424" y="3841035"/>
            <a:ext cx="479880" cy="2425355"/>
          </a:xfrm>
          <a:prstGeom prst="bentConnector3">
            <a:avLst/>
          </a:prstGeom>
          <a:ln w="15240">
            <a:solidFill>
              <a:srgbClr val="64748B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2223324" y="4943984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64748B"/>
                </a:solidFill>
              </a:rPr>
              <a:t>IMS→Customs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685478" y="4759135"/>
            <a:ext cx="211147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317070" y="4759135"/>
            <a:ext cx="211147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165358" y="5581497"/>
            <a:ext cx="307123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892926" y="5581497"/>
            <a:ext cx="364709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62908" y="5404751"/>
            <a:ext cx="364709" cy="176746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425222" y="538339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UK/ROI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6910272" y="5645322"/>
            <a:ext cx="1727568" cy="270030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454016" y="5670609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CE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013646" y="6379311"/>
            <a:ext cx="460685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779604" y="6379311"/>
            <a:ext cx="556661" cy="0"/>
          </a:xfrm>
          <a:prstGeom prst="line">
            <a:avLst/>
          </a:prstGeom>
          <a:ln w="15240">
            <a:solidFill>
              <a:srgbClr val="4ADE80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737894" y="6269583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4ADE80"/>
                </a:solidFill>
              </a:rPr>
              <a:t>YES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4126968" y="6624792"/>
            <a:ext cx="0" cy="88374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806928" y="6559251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NO</a:t>
            </a:r>
          </a:p>
        </p:txBody>
      </p:sp>
      <p:cxnSp>
        <p:nvCxnSpPr>
          <p:cNvPr id="88" name="Connector 87"/>
          <p:cNvCxnSpPr/>
          <p:nvPr/>
        </p:nvCxnSpPr>
        <p:spPr>
          <a:xfrm flipV="1">
            <a:off x="3416745" y="6379311"/>
            <a:ext cx="57586" cy="333855"/>
          </a:xfrm>
          <a:prstGeom prst="bentConnector3">
            <a:avLst/>
          </a:prstGeom>
          <a:ln w="15240">
            <a:solidFill>
              <a:srgbClr val="F97316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3125498" y="6436510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>
                <a:solidFill>
                  <a:srgbClr val="F97316"/>
                </a:solidFill>
              </a:rPr>
              <a:t>resolved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756710" y="6379311"/>
            <a:ext cx="307123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484278" y="6379311"/>
            <a:ext cx="355111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259834" y="6379311"/>
            <a:ext cx="355111" cy="0"/>
          </a:xfrm>
          <a:prstGeom prst="line">
            <a:avLst/>
          </a:prstGeom>
          <a:ln w="12700">
            <a:solidFill>
              <a:srgbClr val="94A3B8"/>
            </a:solidFill>
            <a:tailEnd type="arrow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2073082" y="3615193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69-col → OFI: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AP Invoice Created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073082" y="3853735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Oracle Financials 11i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800650" y="3615193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HSBC Payment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(90-day / LC / VF)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800650" y="3853735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OFI · HSBC Banking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265034" y="4646214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Oracle Fusion: PO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Raised (P1002-XXXXXX)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65034" y="4884756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Oracle Fusion Procurement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896626" y="4646214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Carrier Creates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Invoice via Tungsten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896626" y="4884756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Tungsten Network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5528218" y="4646214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Tungsten→Fusion AP: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AP Team Pays (30-60d)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528218" y="4884756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Oracle Fusion Payables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744914" y="5468576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OFI: AR Invoice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Auto-Created (TISL)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44914" y="5707118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Oracle Financials 11i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4472482" y="5468576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Commission Invoice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(1.5 / 3.5 / 4.25%)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472482" y="5707118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OFI · TISL</a:t>
            </a:r>
          </a:p>
        </p:txBody>
      </p:sp>
      <p:sp>
        <p:nvSpPr>
          <p:cNvPr id="107" name="Diamond 106"/>
          <p:cNvSpPr/>
          <p:nvPr/>
        </p:nvSpPr>
        <p:spPr>
          <a:xfrm>
            <a:off x="6257636" y="5247643"/>
            <a:ext cx="1305273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UK / ROI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or CE (TICB)?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257636" y="5928051"/>
            <a:ext cx="1305273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OFI · RIMS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927618" y="5291830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Oracle Fusion AR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(UK/ROI) → EDI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927618" y="5530372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Oracle Fusion AR · EDI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7927618" y="5645323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C5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CE: RIMS Manual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→ Oracle R12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927618" y="5883865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RIMS · Oracle R12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1593202" y="6266390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IMS Data: OFI AP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→ Customs Team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593202" y="6504932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OFI / ISOS → Customs</a:t>
            </a:r>
          </a:p>
        </p:txBody>
      </p:sp>
      <p:sp>
        <p:nvSpPr>
          <p:cNvPr id="115" name="Diamond 114"/>
          <p:cNvSpPr/>
          <p:nvPr/>
        </p:nvSpPr>
        <p:spPr>
          <a:xfrm>
            <a:off x="3474332" y="6045457"/>
            <a:ext cx="1305273" cy="667708"/>
          </a:xfrm>
          <a:prstGeom prst="diamond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CSS + IMS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Both Available?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74332" y="6725865"/>
            <a:ext cx="1305273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WTA Clearing Agent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3416746" y="6624793"/>
            <a:ext cx="1420444" cy="176746"/>
          </a:xfrm>
          <a:prstGeom prst="roundRect">
            <a:avLst/>
          </a:prstGeom>
          <a:solidFill>
            <a:srgbClr val="0D1117">
              <a:alpha val="95000"/>
            </a:srgbClr>
          </a:solidFill>
          <a:ln w="1524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00" b="0">
                <a:solidFill>
                  <a:srgbClr val="F97316"/>
                </a:solidFill>
              </a:rPr>
              <a:t>Container Hold Risk:</a:t>
            </a:r>
          </a:p>
          <a:p>
            <a:pPr algn="ctr"/>
            <a:r>
              <a:rPr sz="500" b="0">
                <a:solidFill>
                  <a:srgbClr val="F97316"/>
                </a:solidFill>
              </a:rPr>
              <a:t>↑ Data Escalated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416746" y="6814239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WTA · AP Team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336266" y="6266390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WTA Files SFD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at UK Border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336266" y="6504932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WTA · HMRC (CHIEF/CDS)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7063834" y="6266390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OTM HS Codes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→ NBS Duty Rates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063834" y="6504932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OTM → NBS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839390" y="6266390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2700">
            <a:solidFill>
              <a:srgbClr val="52E6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0">
                <a:solidFill>
                  <a:srgbClr val="FFFFFF"/>
                </a:solidFill>
              </a:rPr>
              <a:t>Accrual: Duty Rate</a:t>
            </a:r>
          </a:p>
          <a:p>
            <a:pPr algn="ctr"/>
            <a:r>
              <a:rPr sz="550" b="0">
                <a:solidFill>
                  <a:srgbClr val="FFFFFF"/>
                </a:solidFill>
              </a:rPr>
              <a:t>x Value x Qty → GL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839390" y="6504932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QL Accrual · OFI GL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0614946" y="6266390"/>
            <a:ext cx="1420444" cy="225842"/>
          </a:xfrm>
          <a:prstGeom prst="roundRect">
            <a:avLst/>
          </a:prstGeom>
          <a:solidFill>
            <a:srgbClr val="0D1117">
              <a:alpha val="95000"/>
            </a:srgbClr>
          </a:solidFill>
          <a:ln w="17780">
            <a:solidFill>
              <a:srgbClr val="00E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550" b="1">
                <a:solidFill>
                  <a:srgbClr val="FFFFFF"/>
                </a:solidFill>
              </a:rPr>
              <a:t>TISL Pays Duty</a:t>
            </a:r>
          </a:p>
          <a:p>
            <a:pPr algn="ctr"/>
            <a:r>
              <a:rPr sz="550" b="1">
                <a:solidFill>
                  <a:srgbClr val="FFFFFF"/>
                </a:solidFill>
              </a:rPr>
              <a:t>via DDA (16th mth)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614946" y="6504932"/>
            <a:ext cx="1420444" cy="114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50">
                <a:solidFill>
                  <a:srgbClr val="94A3B8"/>
                </a:solidFill>
              </a:rPr>
              <a:t>DDA · TISL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