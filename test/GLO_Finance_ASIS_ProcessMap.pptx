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54864" cy="1218895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E5C0"/>
                </a:solidFill>
              </a:rPr>
              <a:t>GLO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AS-IS Process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BB"/>
                </a:solidFill>
              </a:rPr>
              <a:t>End-to-End Finance Operations  |  7 Swim Lanes  |  8 Process Phases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328416"/>
            <a:ext cx="164592" cy="164592"/>
          </a:xfrm>
          <a:prstGeom prst="ellipse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Supplier &amp; Factory MDM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200400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EQOS · NeoGrid · SSUP Portal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67328"/>
            <a:ext cx="164592" cy="164592"/>
          </a:xfrm>
          <a:prstGeom prst="ellipse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393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Purchase Order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3931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LM/MM System · ISOS · OTM/BizTalk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06240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7822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Shipment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78224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OTM · BizTalk/RTA · FF Systems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45152"/>
            <a:ext cx="164592" cy="164592"/>
          </a:xfrm>
          <a:prstGeom prst="ellipse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51713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 Invoice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17136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ISOS/OTM BM · Documentum · EDI → OFI · MS Access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084064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Freight Self-Billing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56048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MS Access DB · Rolling File · Oracle Fusion · Tungsten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522976"/>
            <a:ext cx="164592" cy="164592"/>
          </a:xfrm>
          <a:prstGeom prst="ellipse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39496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AR &amp; Intercompany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394960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Oracle Fusion AR · RIMS (CE) · Oracle R12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961888"/>
            <a:ext cx="164592" cy="164592"/>
          </a:xfrm>
          <a:prstGeom prst="ellipse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83387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Customs &amp; Duty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83387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BB"/>
                </a:solidFill>
              </a:rPr>
              <a:t>OTM CSS/IMS · NBS/CM-UK · WTA Portal · DDA (TISL)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BB"/>
                </a:solidFill>
              </a:rPr>
              <a:t>Tesco Global Finance  |  Confidential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4008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Phase 1-2: Supplier Onboarding  &amp;  Purchase Order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4008"/>
            <a:ext cx="1188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Phases 1 &amp; 2  |  Supplier Onboarding  →  Purchase Order Creation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19" y="530352"/>
            <a:ext cx="4645714" cy="6291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BB"/>
                </a:solidFill>
              </a:rPr>
              <a:t>Supplier Onboarding  |  Purchase Order Creation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4008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Phase 3-4: Shipment Execution  &amp;  Invoice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4008"/>
            <a:ext cx="1188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Phases 3 &amp; 4  |  Shipment Execution  →  Invoice Preparation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476" y="530352"/>
            <a:ext cx="8130000" cy="6291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BB"/>
                </a:solidFill>
              </a:rPr>
              <a:t>Shipment Execution  |  Invoice Preparation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4008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Phase 5-6: Cost Validation  &amp;  PO Raise /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4008"/>
            <a:ext cx="1188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Phases 5 &amp; 6  |  Cost Validation &amp; Agreement  →  PO Raise &amp; Submission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4" y="530352"/>
            <a:ext cx="11904643" cy="6291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BB"/>
                </a:solidFill>
              </a:rPr>
              <a:t>Cost Validation &amp; Agreement  |  PO Raise &amp;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4008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</a:rPr>
              <a:t>Phase 7-8: Payment &amp; AR Billing  &amp;  Customs Clearance / 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4008"/>
            <a:ext cx="1188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Phases 7 &amp; 8  |  Payment &amp; AR Billing  →  Customs Clearance &amp; Duty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352"/>
            <a:ext cx="12188952" cy="45016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BB"/>
                </a:solidFill>
              </a:rPr>
              <a:t>Payment &amp; AR Billing  |  Customs Clearance &amp; Duty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