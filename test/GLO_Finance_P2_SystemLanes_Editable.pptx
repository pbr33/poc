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00E5C0"/>
                </a:solidFill>
              </a:rPr>
              <a:t>GLO Finance AS-IS — System / ERP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One swim lane per ERP/System  |  8 L3 Activity Phases  |  Data-flow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</a:rPr>
              <a:t>[A] = Automated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97316"/>
                </a:solidFill>
              </a:rPr>
              <a:t>[M] = Manual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</a:rPr>
              <a:t>[A/M] = Mixed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34360"/>
            <a:ext cx="127000" cy="127000"/>
          </a:xfrm>
          <a:prstGeom prst="ellipse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SSUP Portal / NeoGrid  —  Supplier Onboarding Team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18408"/>
            <a:ext cx="127000" cy="127000"/>
          </a:xfrm>
          <a:prstGeom prst="ellipse">
            <a:avLst/>
          </a:prstGeom>
          <a:solidFill>
            <a:srgbClr val="1A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93008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EQOS  —  Master Data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2456"/>
            <a:ext cx="127000" cy="127000"/>
          </a:xfrm>
          <a:prstGeom prst="ellipse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77056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LM / MM System  —  Buyers (PO Creation)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86504"/>
            <a:ext cx="127000" cy="127000"/>
          </a:xfrm>
          <a:prstGeom prst="ellipse">
            <a:avLst/>
          </a:prstGeom>
          <a:solidFill>
            <a:srgbClr val="7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61104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ISOS  —  Finance &amp; PO Hub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670552"/>
            <a:ext cx="127000" cy="127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45152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Oracle TM (OTM)  —  Logistics &amp; Planning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054600"/>
            <a:ext cx="127000" cy="12700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2920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BizTalk / EDI  —  Integration Layer (IT)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438648"/>
            <a:ext cx="127000" cy="127000"/>
          </a:xfrm>
          <a:prstGeom prst="ellipse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413248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Documentum  —  Document Management (AP)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822696"/>
            <a:ext cx="127000" cy="1270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797296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MS Access DB (Self-Billing)  —  TBS Billing Analyst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6206744"/>
            <a:ext cx="127000" cy="127000"/>
          </a:xfrm>
          <a:prstGeom prst="ellipse">
            <a:avLst/>
          </a:prstGeom>
          <a:solidFill>
            <a:srgbClr val="F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6181344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Oracle Financials 11i  —  AP / AR Finance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6590792"/>
            <a:ext cx="127000" cy="127000"/>
          </a:xfrm>
          <a:prstGeom prst="ellipse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6565392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Oracle Fusion (Procurement/AR)  —  Finance / Procurement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6974840"/>
            <a:ext cx="127000" cy="127000"/>
          </a:xfrm>
          <a:prstGeom prst="ellipse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694944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Tungsten Network  —  eInvoicing Portal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7358888"/>
            <a:ext cx="127000" cy="127000"/>
          </a:xfrm>
          <a:prstGeom prst="ellipse">
            <a:avLst/>
          </a:prstGeom>
          <a:solidFill>
            <a:srgbClr val="3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7333488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WTA Portal / HMRC  —  Customs Clearance Agent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7742936"/>
            <a:ext cx="127000" cy="127000"/>
          </a:xfrm>
          <a:prstGeom prst="ellipse">
            <a:avLst/>
          </a:prstGeom>
          <a:solidFill>
            <a:srgbClr val="5DD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7717536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NBS / DDA  —  Duty Management (Finance)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Tesco Global Finance  |  Confidential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3963"/>
            <a:ext cx="12188952" cy="468772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963"/>
            <a:ext cx="38100" cy="46877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3963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763963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SSUP Portal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/ NeoGrid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076477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Supplier Onboarding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273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32735"/>
            <a:ext cx="12188952" cy="468772"/>
          </a:xfrm>
          <a:prstGeom prst="rect">
            <a:avLst/>
          </a:prstGeom>
          <a:solidFill>
            <a:srgbClr val="1AE0B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32735"/>
            <a:ext cx="38100" cy="468772"/>
          </a:xfrm>
          <a:prstGeom prst="rect">
            <a:avLst/>
          </a:prstGeom>
          <a:solidFill>
            <a:srgbClr val="1A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232735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232735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AE0BE"/>
                </a:solidFill>
              </a:rPr>
              <a:t>EQOS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1545249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Master Data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015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701507"/>
            <a:ext cx="12188952" cy="468772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701507"/>
            <a:ext cx="38100" cy="468772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01507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1701507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LM / MM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2014021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(PO Creation)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17027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170279"/>
            <a:ext cx="12188952" cy="468772"/>
          </a:xfrm>
          <a:prstGeom prst="rect">
            <a:avLst/>
          </a:prstGeom>
          <a:solidFill>
            <a:srgbClr val="7B9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170279"/>
            <a:ext cx="38100" cy="468772"/>
          </a:xfrm>
          <a:prstGeom prst="rect">
            <a:avLst/>
          </a:prstGeom>
          <a:solidFill>
            <a:srgbClr val="7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70279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2170279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7B9FFF"/>
                </a:solidFill>
              </a:rPr>
              <a:t>ISOS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2482793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&amp; PO 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63905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639051"/>
            <a:ext cx="12188952" cy="468772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639051"/>
            <a:ext cx="38100" cy="4687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639051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2639051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Oracle TM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(OTM)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2951565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&amp;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10782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107823"/>
            <a:ext cx="12188952" cy="468772"/>
          </a:xfrm>
          <a:prstGeom prst="rect">
            <a:avLst/>
          </a:prstGeom>
          <a:solidFill>
            <a:srgbClr val="C4B5F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107823"/>
            <a:ext cx="38100" cy="46877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107823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3107823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4B5FD"/>
                </a:solidFill>
              </a:rPr>
              <a:t>BizTalk / EDI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3420337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Integration Layer (IT)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357659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576595"/>
            <a:ext cx="12188952" cy="468772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3576595"/>
            <a:ext cx="38100" cy="468772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3576595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3576595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Documentum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3889109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Document Management (AP)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04536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045367"/>
            <a:ext cx="12188952" cy="468772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45367"/>
            <a:ext cx="38100" cy="4687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045367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0" y="4045367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MS Access DB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(Self-Billing)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00" y="4357881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Billing Analyst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51413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514139"/>
            <a:ext cx="12188952" cy="468772"/>
          </a:xfrm>
          <a:prstGeom prst="rect">
            <a:avLst/>
          </a:prstGeom>
          <a:solidFill>
            <a:srgbClr val="FF9E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514139"/>
            <a:ext cx="38100" cy="468772"/>
          </a:xfrm>
          <a:prstGeom prst="rect">
            <a:avLst/>
          </a:prstGeom>
          <a:solidFill>
            <a:srgbClr val="F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4514139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0" y="4514139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9E5E"/>
                </a:solidFill>
              </a:rPr>
              <a:t>Oracle</a:t>
            </a:r>
          </a:p>
          <a:p>
            <a:pPr algn="ctr"/>
            <a:r>
              <a:rPr sz="550" b="1">
                <a:solidFill>
                  <a:srgbClr val="FF9E5E"/>
                </a:solidFill>
              </a:rPr>
              <a:t>Financials 11i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00" y="4826653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/ AR Finance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98291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4982911"/>
            <a:ext cx="12188952" cy="468772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4982911"/>
            <a:ext cx="38100" cy="468772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4982911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00" y="4982911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Oracle Fusion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(Procurement/AR)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" y="5295425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Procurement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545168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5451683"/>
            <a:ext cx="12188952" cy="468772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451683"/>
            <a:ext cx="38100" cy="468772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5451683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" y="5451683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Tungsten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Network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" y="5764197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eInvoicing Portal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592045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5920455"/>
            <a:ext cx="12188952" cy="468772"/>
          </a:xfrm>
          <a:prstGeom prst="rect">
            <a:avLst/>
          </a:prstGeom>
          <a:solidFill>
            <a:srgbClr val="38C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5920455"/>
            <a:ext cx="38100" cy="468772"/>
          </a:xfrm>
          <a:prstGeom prst="rect">
            <a:avLst/>
          </a:prstGeom>
          <a:solidFill>
            <a:srgbClr val="3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5920455"/>
            <a:ext cx="2812835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00" y="5920455"/>
            <a:ext cx="2736635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38C6FF"/>
                </a:solidFill>
              </a:rPr>
              <a:t>WTA Portal</a:t>
            </a:r>
          </a:p>
          <a:p>
            <a:pPr algn="ctr"/>
            <a:r>
              <a:rPr sz="550" b="1">
                <a:solidFill>
                  <a:srgbClr val="38C6FF"/>
                </a:solidFill>
              </a:rPr>
              <a:t>/ HMRC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00" y="6232969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Clearance Agent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38922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389227"/>
            <a:ext cx="12188952" cy="468773"/>
          </a:xfrm>
          <a:prstGeom prst="rect">
            <a:avLst/>
          </a:prstGeom>
          <a:solidFill>
            <a:srgbClr val="5DDDA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6389227"/>
            <a:ext cx="38100" cy="468773"/>
          </a:xfrm>
          <a:prstGeom prst="rect">
            <a:avLst/>
          </a:prstGeom>
          <a:solidFill>
            <a:srgbClr val="5DD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6389227"/>
            <a:ext cx="2812835" cy="46877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500" y="6389227"/>
            <a:ext cx="2736635" cy="46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DDDAA"/>
                </a:solidFill>
              </a:rPr>
              <a:t>NBS / DDA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00" y="6701742"/>
            <a:ext cx="2762035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Duty Management (Finance)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812835" y="0"/>
            <a:ext cx="4453655" cy="475488"/>
          </a:xfrm>
          <a:prstGeom prst="rect">
            <a:avLst/>
          </a:prstGeom>
          <a:solidFill>
            <a:srgbClr val="00E5C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50935" y="0"/>
            <a:ext cx="437745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00E5C0"/>
                </a:solidFill>
              </a:rPr>
              <a:t>Supplier</a:t>
            </a:r>
          </a:p>
          <a:p>
            <a:pPr algn="ctr"/>
            <a:r>
              <a:rPr sz="700" b="1">
                <a:solidFill>
                  <a:srgbClr val="00E5C0"/>
                </a:solidFill>
              </a:rPr>
              <a:t>Setup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66489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66490" y="0"/>
            <a:ext cx="4922462" cy="475488"/>
          </a:xfrm>
          <a:prstGeom prst="rect">
            <a:avLst/>
          </a:prstGeom>
          <a:solidFill>
            <a:srgbClr val="4FB3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4590" y="0"/>
            <a:ext cx="484626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4FB3FF"/>
                </a:solidFill>
              </a:rPr>
              <a:t>PO &amp;</a:t>
            </a:r>
          </a:p>
          <a:p>
            <a:pPr algn="ctr"/>
            <a:r>
              <a:rPr sz="700" b="1">
                <a:solidFill>
                  <a:srgbClr val="4FB3FF"/>
                </a:solidFill>
              </a:rPr>
              <a:t>Compliance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188951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0" y="0"/>
            <a:ext cx="281283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2  |  P1-2: Supplier Setup &amp; PO / Compliance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0946616" y="2404665"/>
            <a:ext cx="609448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477810" y="3342209"/>
            <a:ext cx="1711142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922461" y="1081285"/>
            <a:ext cx="937612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16947" y="1141294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Doc upload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860073" y="1550057"/>
            <a:ext cx="4219252" cy="77167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695379" y="1844452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Compliance feed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438505" y="2018829"/>
            <a:ext cx="1640820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984595" y="2078838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 transmitted (BizTalk)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9610519" y="2956374"/>
            <a:ext cx="1289216" cy="302898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980807" y="301638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 via BizTalk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55171" y="915413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Collect &amp; Upload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Supplier Documents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86551" y="91541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55171" y="1081286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SSUP Portal / NeoGrid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992783" y="1384185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Validate &amp; Create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Supplier/Factory Record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24163" y="138418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94A3B8"/>
                </a:solidFill>
              </a:rPr>
              <a:t>[A/M]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992783" y="1550058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EQOS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743229" y="1384185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1AE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Real-time Compliance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Feed to ISOS (15-min)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74609" y="138418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43229" y="1550058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EQOS → ISOS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71215" y="1852957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4F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Buyer Creates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Purchase Order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02595" y="185295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71215" y="2018830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LM / MM System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212035" y="2321729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7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Validate PO: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Compliance &amp; Cost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43415" y="232172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212035" y="2487602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032445" y="2790501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Enrich &amp; Distribute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PO to Supplier (PDF)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563825" y="279050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32445" y="2956374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43229" y="3259273"/>
            <a:ext cx="173458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Transmit PO to OTM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Supplier (BizTalk)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74609" y="325927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43229" y="3425146"/>
            <a:ext cx="173458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BizTalk / XCOM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3963"/>
            <a:ext cx="12188952" cy="468772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963"/>
            <a:ext cx="38100" cy="46877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3963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763963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SSUP Portal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/ NeoGrid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076477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Supplier Onboarding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273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32735"/>
            <a:ext cx="12188952" cy="468772"/>
          </a:xfrm>
          <a:prstGeom prst="rect">
            <a:avLst/>
          </a:prstGeom>
          <a:solidFill>
            <a:srgbClr val="1AE0B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32735"/>
            <a:ext cx="38100" cy="468772"/>
          </a:xfrm>
          <a:prstGeom prst="rect">
            <a:avLst/>
          </a:prstGeom>
          <a:solidFill>
            <a:srgbClr val="1A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232735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232735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AE0BE"/>
                </a:solidFill>
              </a:rPr>
              <a:t>EQOS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1545249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Master Data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015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701507"/>
            <a:ext cx="12188952" cy="468772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701507"/>
            <a:ext cx="38100" cy="468772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01507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1701507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LM / MM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2014021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(PO Creation)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17027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170279"/>
            <a:ext cx="12188952" cy="468772"/>
          </a:xfrm>
          <a:prstGeom prst="rect">
            <a:avLst/>
          </a:prstGeom>
          <a:solidFill>
            <a:srgbClr val="7B9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170279"/>
            <a:ext cx="38100" cy="468772"/>
          </a:xfrm>
          <a:prstGeom prst="rect">
            <a:avLst/>
          </a:prstGeom>
          <a:solidFill>
            <a:srgbClr val="7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70279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2170279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7B9FFF"/>
                </a:solidFill>
              </a:rPr>
              <a:t>ISOS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2482793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&amp; PO 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63905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639051"/>
            <a:ext cx="12188952" cy="468772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639051"/>
            <a:ext cx="38100" cy="4687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639051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2639051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Oracle TM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(OTM)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2951565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&amp;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10782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107823"/>
            <a:ext cx="12188952" cy="468772"/>
          </a:xfrm>
          <a:prstGeom prst="rect">
            <a:avLst/>
          </a:prstGeom>
          <a:solidFill>
            <a:srgbClr val="C4B5F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107823"/>
            <a:ext cx="38100" cy="46877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107823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3107823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4B5FD"/>
                </a:solidFill>
              </a:rPr>
              <a:t>BizTalk / EDI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3420337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Integration Layer (IT)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357659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576595"/>
            <a:ext cx="12188952" cy="468772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3576595"/>
            <a:ext cx="38100" cy="468772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3576595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3576595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Documentum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3889109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Document Management (AP)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04536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045367"/>
            <a:ext cx="12188952" cy="468772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45367"/>
            <a:ext cx="38100" cy="4687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045367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0" y="4045367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MS Access DB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(Self-Billing)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00" y="4357881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Billing Analyst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51413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514139"/>
            <a:ext cx="12188952" cy="468772"/>
          </a:xfrm>
          <a:prstGeom prst="rect">
            <a:avLst/>
          </a:prstGeom>
          <a:solidFill>
            <a:srgbClr val="FF9E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514139"/>
            <a:ext cx="38100" cy="468772"/>
          </a:xfrm>
          <a:prstGeom prst="rect">
            <a:avLst/>
          </a:prstGeom>
          <a:solidFill>
            <a:srgbClr val="F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4514139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0" y="4514139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9E5E"/>
                </a:solidFill>
              </a:rPr>
              <a:t>Oracle</a:t>
            </a:r>
          </a:p>
          <a:p>
            <a:pPr algn="ctr"/>
            <a:r>
              <a:rPr sz="550" b="1">
                <a:solidFill>
                  <a:srgbClr val="FF9E5E"/>
                </a:solidFill>
              </a:rPr>
              <a:t>Financials 11i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00" y="4826653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/ AR Finance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98291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4982911"/>
            <a:ext cx="12188952" cy="468772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4982911"/>
            <a:ext cx="38100" cy="468772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4982911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00" y="4982911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Oracle Fusion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(Procurement/AR)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" y="5295425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Procurement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545168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5451683"/>
            <a:ext cx="12188952" cy="468772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451683"/>
            <a:ext cx="38100" cy="468772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5451683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" y="5451683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Tungsten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Network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" y="5764197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eInvoicing Portal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592045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5920455"/>
            <a:ext cx="12188952" cy="468772"/>
          </a:xfrm>
          <a:prstGeom prst="rect">
            <a:avLst/>
          </a:prstGeom>
          <a:solidFill>
            <a:srgbClr val="38C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5920455"/>
            <a:ext cx="38100" cy="468772"/>
          </a:xfrm>
          <a:prstGeom prst="rect">
            <a:avLst/>
          </a:prstGeom>
          <a:solidFill>
            <a:srgbClr val="3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5920455"/>
            <a:ext cx="2786046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00" y="5920455"/>
            <a:ext cx="2709846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38C6FF"/>
                </a:solidFill>
              </a:rPr>
              <a:t>WTA Portal</a:t>
            </a:r>
          </a:p>
          <a:p>
            <a:pPr algn="ctr"/>
            <a:r>
              <a:rPr sz="550" b="1">
                <a:solidFill>
                  <a:srgbClr val="38C6FF"/>
                </a:solidFill>
              </a:rPr>
              <a:t>/ HMRC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00" y="6232969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Clearance Agent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38922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389227"/>
            <a:ext cx="12188952" cy="468773"/>
          </a:xfrm>
          <a:prstGeom prst="rect">
            <a:avLst/>
          </a:prstGeom>
          <a:solidFill>
            <a:srgbClr val="5DDDA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6389227"/>
            <a:ext cx="38100" cy="468773"/>
          </a:xfrm>
          <a:prstGeom prst="rect">
            <a:avLst/>
          </a:prstGeom>
          <a:solidFill>
            <a:srgbClr val="5DD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6389227"/>
            <a:ext cx="2786046" cy="46877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500" y="6389227"/>
            <a:ext cx="2709846" cy="46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DDDAA"/>
                </a:solidFill>
              </a:rPr>
              <a:t>NBS / DDA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00" y="6701742"/>
            <a:ext cx="2735246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Duty Management (Finance)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86046" y="0"/>
            <a:ext cx="4527325" cy="475488"/>
          </a:xfrm>
          <a:prstGeom prst="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24146" y="0"/>
            <a:ext cx="445112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</a:rPr>
              <a:t>Shipment</a:t>
            </a:r>
          </a:p>
          <a:p>
            <a:pPr algn="ctr"/>
            <a:r>
              <a:rPr sz="700" b="1">
                <a:solidFill>
                  <a:srgbClr val="A78BFA"/>
                </a:solidFill>
              </a:rPr>
              <a:t>&amp; Booking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3370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3371" y="0"/>
            <a:ext cx="4875581" cy="475488"/>
          </a:xfrm>
          <a:prstGeom prst="rect">
            <a:avLst/>
          </a:prstGeom>
          <a:solidFill>
            <a:srgbClr val="FFD04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51471" y="0"/>
            <a:ext cx="4799381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D04A"/>
                </a:solidFill>
              </a:rPr>
              <a:t>Invoice</a:t>
            </a:r>
          </a:p>
          <a:p>
            <a:pPr algn="ctr"/>
            <a:r>
              <a:rPr sz="700" b="1">
                <a:solidFill>
                  <a:srgbClr val="FFD04A"/>
                </a:solidFill>
              </a:rPr>
              <a:t>Receipt &amp; Prep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188951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0" y="0"/>
            <a:ext cx="2786046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3  |  P3-4: Shipment / Booking &amp; Invoice Receipt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877247" y="2404665"/>
            <a:ext cx="371473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966782" y="2404665"/>
            <a:ext cx="2925348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610192" y="2404665"/>
            <a:ext cx="1578760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850696" y="2873437"/>
            <a:ext cx="1416241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850696" y="3342209"/>
            <a:ext cx="2228837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797595" y="3342209"/>
            <a:ext cx="2391357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1509108" y="2487601"/>
            <a:ext cx="1509108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989342" y="2547610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 to OTM</a:t>
            </a:r>
          </a:p>
        </p:txBody>
      </p:sp>
      <p:cxnSp>
        <p:nvCxnSpPr>
          <p:cNvPr id="97" name="Connector 96"/>
          <p:cNvCxnSpPr/>
          <p:nvPr/>
        </p:nvCxnSpPr>
        <p:spPr>
          <a:xfrm flipV="1">
            <a:off x="4991666" y="2487601"/>
            <a:ext cx="116085" cy="77167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775388" y="2781996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SM1 from FF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8938564" y="2487601"/>
            <a:ext cx="3250388" cy="77167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289438" y="2781996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IV0 to ISOS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751161" y="3893918"/>
            <a:ext cx="2437791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695736" y="3953927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Indexed fields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125967" y="2790500"/>
            <a:ext cx="4062985" cy="165874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883139" y="2781997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Triggers CSS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159186" y="2321729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7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Enrich PO &amp;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Assign FF/LSP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74046" y="232172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59186" y="2487602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248721" y="2321729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7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SM1/SM2 Processing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Version Filtering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63581" y="232172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8721" y="2487602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892131" y="2321729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Generate 78-Column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Extract (Approved POs)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06991" y="232172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92131" y="2487602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32636" y="2790501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Shipment Booking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Milestone Tracking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47496" y="279050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132636" y="2956374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266937" y="2790501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Daily Inbound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All File Generated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81797" y="279050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66937" y="2956374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132636" y="3259273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Route Shipment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Milestones (SM1-SM4)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47496" y="325927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32636" y="3425146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BizTalk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079534" y="3259273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Route IV0 e-Invoice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from FF to ISOS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94394" y="325927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079534" y="3425146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BizTalk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892131" y="3728045"/>
            <a:ext cx="1718061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D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Manually Index PDF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Invoice (6-7 Fields)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06991" y="372804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92131" y="3893918"/>
            <a:ext cx="1718061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Documentum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3963"/>
            <a:ext cx="12188952" cy="468772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963"/>
            <a:ext cx="38100" cy="46877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3963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763963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SSUP Portal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/ NeoGrid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076477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Supplier Onboarding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273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32735"/>
            <a:ext cx="12188952" cy="468772"/>
          </a:xfrm>
          <a:prstGeom prst="rect">
            <a:avLst/>
          </a:prstGeom>
          <a:solidFill>
            <a:srgbClr val="1AE0B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32735"/>
            <a:ext cx="38100" cy="468772"/>
          </a:xfrm>
          <a:prstGeom prst="rect">
            <a:avLst/>
          </a:prstGeom>
          <a:solidFill>
            <a:srgbClr val="1A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232735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232735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AE0BE"/>
                </a:solidFill>
              </a:rPr>
              <a:t>EQOS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1545249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Master Data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015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701507"/>
            <a:ext cx="12188952" cy="468772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701507"/>
            <a:ext cx="38100" cy="468772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01507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1701507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LM / MM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2014021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(PO Creation)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17027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170279"/>
            <a:ext cx="12188952" cy="468772"/>
          </a:xfrm>
          <a:prstGeom prst="rect">
            <a:avLst/>
          </a:prstGeom>
          <a:solidFill>
            <a:srgbClr val="7B9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170279"/>
            <a:ext cx="38100" cy="468772"/>
          </a:xfrm>
          <a:prstGeom prst="rect">
            <a:avLst/>
          </a:prstGeom>
          <a:solidFill>
            <a:srgbClr val="7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70279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2170279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7B9FFF"/>
                </a:solidFill>
              </a:rPr>
              <a:t>ISOS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2482793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&amp; PO 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63905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639051"/>
            <a:ext cx="12188952" cy="468772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639051"/>
            <a:ext cx="38100" cy="4687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639051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2639051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Oracle TM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(OTM)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2951565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&amp;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10782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107823"/>
            <a:ext cx="12188952" cy="468772"/>
          </a:xfrm>
          <a:prstGeom prst="rect">
            <a:avLst/>
          </a:prstGeom>
          <a:solidFill>
            <a:srgbClr val="C4B5F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107823"/>
            <a:ext cx="38100" cy="46877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107823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3107823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4B5FD"/>
                </a:solidFill>
              </a:rPr>
              <a:t>BizTalk / EDI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3420337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Integration Layer (IT)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357659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576595"/>
            <a:ext cx="12188952" cy="468772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3576595"/>
            <a:ext cx="38100" cy="468772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3576595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3576595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Documentum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3889109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Document Management (AP)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04536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045367"/>
            <a:ext cx="12188952" cy="468772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45367"/>
            <a:ext cx="38100" cy="4687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045367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0" y="4045367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MS Access DB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(Self-Billing)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00" y="4357881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Billing Analyst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51413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514139"/>
            <a:ext cx="12188952" cy="468772"/>
          </a:xfrm>
          <a:prstGeom prst="rect">
            <a:avLst/>
          </a:prstGeom>
          <a:solidFill>
            <a:srgbClr val="FF9E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514139"/>
            <a:ext cx="38100" cy="468772"/>
          </a:xfrm>
          <a:prstGeom prst="rect">
            <a:avLst/>
          </a:prstGeom>
          <a:solidFill>
            <a:srgbClr val="F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4514139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0" y="4514139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9E5E"/>
                </a:solidFill>
              </a:rPr>
              <a:t>Oracle</a:t>
            </a:r>
          </a:p>
          <a:p>
            <a:pPr algn="ctr"/>
            <a:r>
              <a:rPr sz="550" b="1">
                <a:solidFill>
                  <a:srgbClr val="FF9E5E"/>
                </a:solidFill>
              </a:rPr>
              <a:t>Financials 11i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00" y="4826653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/ AR Finance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98291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4982911"/>
            <a:ext cx="12188952" cy="468772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4982911"/>
            <a:ext cx="38100" cy="468772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4982911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00" y="4982911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Oracle Fusion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(Procurement/AR)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" y="5295425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Procurement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545168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5451683"/>
            <a:ext cx="12188952" cy="468772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451683"/>
            <a:ext cx="38100" cy="468772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5451683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" y="5451683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Tungsten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Network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" y="5764197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eInvoicing Portal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592045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5920455"/>
            <a:ext cx="12188952" cy="468772"/>
          </a:xfrm>
          <a:prstGeom prst="rect">
            <a:avLst/>
          </a:prstGeom>
          <a:solidFill>
            <a:srgbClr val="38C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5920455"/>
            <a:ext cx="38100" cy="468772"/>
          </a:xfrm>
          <a:prstGeom prst="rect">
            <a:avLst/>
          </a:prstGeom>
          <a:solidFill>
            <a:srgbClr val="3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5920455"/>
            <a:ext cx="2759762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00" y="5920455"/>
            <a:ext cx="2683562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38C6FF"/>
                </a:solidFill>
              </a:rPr>
              <a:t>WTA Portal</a:t>
            </a:r>
          </a:p>
          <a:p>
            <a:pPr algn="ctr"/>
            <a:r>
              <a:rPr sz="550" b="1">
                <a:solidFill>
                  <a:srgbClr val="38C6FF"/>
                </a:solidFill>
              </a:rPr>
              <a:t>/ HMRC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00" y="6232969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Clearance Agent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38922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389227"/>
            <a:ext cx="12188952" cy="468773"/>
          </a:xfrm>
          <a:prstGeom prst="rect">
            <a:avLst/>
          </a:prstGeom>
          <a:solidFill>
            <a:srgbClr val="5DDDA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6389227"/>
            <a:ext cx="38100" cy="468773"/>
          </a:xfrm>
          <a:prstGeom prst="rect">
            <a:avLst/>
          </a:prstGeom>
          <a:solidFill>
            <a:srgbClr val="5DD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6389227"/>
            <a:ext cx="2759762" cy="46877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500" y="6389227"/>
            <a:ext cx="2683562" cy="46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DDDAA"/>
                </a:solidFill>
              </a:rPr>
              <a:t>NBS / DDA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00" y="6701742"/>
            <a:ext cx="2708962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Duty Management (Finance)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59762" y="0"/>
            <a:ext cx="4714595" cy="475488"/>
          </a:xfrm>
          <a:prstGeom prst="rect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97862" y="0"/>
            <a:ext cx="463839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6B6B"/>
                </a:solidFill>
              </a:rPr>
              <a:t>Cost</a:t>
            </a:r>
          </a:p>
          <a:p>
            <a:pPr algn="ctr"/>
            <a:r>
              <a:rPr sz="700" b="1">
                <a:solidFill>
                  <a:srgbClr val="FF6B6B"/>
                </a:solidFill>
              </a:rPr>
              <a:t>Validation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74356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74357" y="0"/>
            <a:ext cx="4714595" cy="475488"/>
          </a:xfrm>
          <a:prstGeom prst="rect">
            <a:avLst/>
          </a:prstGeom>
          <a:solidFill>
            <a:srgbClr val="C57B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12457" y="0"/>
            <a:ext cx="463839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C57BFF"/>
                </a:solidFill>
              </a:rPr>
              <a:t>Billing &amp;</a:t>
            </a:r>
          </a:p>
          <a:p>
            <a:pPr algn="ctr"/>
            <a:r>
              <a:rPr sz="700" b="1">
                <a:solidFill>
                  <a:srgbClr val="C57BFF"/>
                </a:solidFill>
              </a:rPr>
              <a:t>PO Raise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188951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0" y="0"/>
            <a:ext cx="275976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4  |  P5-6: Cost Validation &amp; Billing / PO Raise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059564" y="2487601"/>
            <a:ext cx="0" cy="77167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785244" y="2781996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78-col to EDI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059564" y="3425146"/>
            <a:ext cx="574951" cy="77167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072719" y="3719541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69-col data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774159" y="4362690"/>
            <a:ext cx="2414793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707235" y="4422699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Matched data → AP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774159" y="4362690"/>
            <a:ext cx="0" cy="77167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9499839" y="4657085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 req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774159" y="5300234"/>
            <a:ext cx="0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499839" y="536024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 to carrier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9774159" y="5134361"/>
            <a:ext cx="2414793" cy="634645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707235" y="536024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Invoice validated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208638" y="2321729"/>
            <a:ext cx="1701853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7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2-Way Cost Check: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PO vs IV0 Value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07290" y="232172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08638" y="2487602"/>
            <a:ext cx="1701853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ISOS / OTM BM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08638" y="3259273"/>
            <a:ext cx="1701853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EDI: 78-col → 69-col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Format Conversion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07290" y="325927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8638" y="3425146"/>
            <a:ext cx="1701853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EDI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783589" y="4196817"/>
            <a:ext cx="1701853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Upload OTM File &amp;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Run Weekly Extract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82241" y="419681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83589" y="4362690"/>
            <a:ext cx="1701853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MS Access DB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923233" y="4196817"/>
            <a:ext cx="1701853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Rolling File: Track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Charges &amp; Agreements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21885" y="419681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23233" y="4362690"/>
            <a:ext cx="1701853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MS Access DB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923233" y="5134361"/>
            <a:ext cx="1701853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Freight PO Raised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(P1002-XXXXXX)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21885" y="513436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23233" y="5300234"/>
            <a:ext cx="1701853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Fusion Procurement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923233" y="5603133"/>
            <a:ext cx="1701853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Carrier Creates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Formal eInvoice vs PO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21885" y="5603133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F97316"/>
                </a:solidFill>
              </a:rPr>
              <a:t>[M]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23233" y="5769006"/>
            <a:ext cx="1701853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Tungsten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3963"/>
            <a:ext cx="12188952" cy="468772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963"/>
            <a:ext cx="38100" cy="468772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3963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" y="763963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00E5C0"/>
                </a:solidFill>
              </a:rPr>
              <a:t>SSUP Portal</a:t>
            </a:r>
          </a:p>
          <a:p>
            <a:pPr algn="ctr"/>
            <a:r>
              <a:rPr sz="550" b="1">
                <a:solidFill>
                  <a:srgbClr val="00E5C0"/>
                </a:solidFill>
              </a:rPr>
              <a:t>/ NeoGrid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" y="1076477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Supplier Onboarding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273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32735"/>
            <a:ext cx="12188952" cy="468772"/>
          </a:xfrm>
          <a:prstGeom prst="rect">
            <a:avLst/>
          </a:prstGeom>
          <a:solidFill>
            <a:srgbClr val="1AE0B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32735"/>
            <a:ext cx="38100" cy="468772"/>
          </a:xfrm>
          <a:prstGeom prst="rect">
            <a:avLst/>
          </a:prstGeom>
          <a:solidFill>
            <a:srgbClr val="1AE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232735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" y="1232735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1AE0BE"/>
                </a:solidFill>
              </a:rPr>
              <a:t>EQOS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" y="1545249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Master Data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0150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701507"/>
            <a:ext cx="12188952" cy="468772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701507"/>
            <a:ext cx="38100" cy="468772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01507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" y="1701507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4FB3FF"/>
                </a:solidFill>
              </a:rPr>
              <a:t>LM / MM</a:t>
            </a:r>
          </a:p>
          <a:p>
            <a:pPr algn="ctr"/>
            <a:r>
              <a:rPr sz="550" b="1">
                <a:solidFill>
                  <a:srgbClr val="4FB3FF"/>
                </a:solidFill>
              </a:rP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" y="2014021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Buyers (PO Creation)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17027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170279"/>
            <a:ext cx="12188952" cy="468772"/>
          </a:xfrm>
          <a:prstGeom prst="rect">
            <a:avLst/>
          </a:prstGeom>
          <a:solidFill>
            <a:srgbClr val="7B9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170279"/>
            <a:ext cx="38100" cy="468772"/>
          </a:xfrm>
          <a:prstGeom prst="rect">
            <a:avLst/>
          </a:prstGeom>
          <a:solidFill>
            <a:srgbClr val="7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70279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" y="2170279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7B9FFF"/>
                </a:solidFill>
              </a:rPr>
              <a:t>ISOS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" y="2482793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&amp; PO 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263905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639051"/>
            <a:ext cx="12188952" cy="468772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2639051"/>
            <a:ext cx="38100" cy="4687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639051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" y="2639051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A78BFA"/>
                </a:solidFill>
              </a:rPr>
              <a:t>Oracle TM</a:t>
            </a:r>
          </a:p>
          <a:p>
            <a:pPr algn="ctr"/>
            <a:r>
              <a:rPr sz="550" b="1">
                <a:solidFill>
                  <a:srgbClr val="A78BFA"/>
                </a:solidFill>
              </a:rPr>
              <a:t>(OTM)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" y="2951565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Logistics &amp;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10782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107823"/>
            <a:ext cx="12188952" cy="468772"/>
          </a:xfrm>
          <a:prstGeom prst="rect">
            <a:avLst/>
          </a:prstGeom>
          <a:solidFill>
            <a:srgbClr val="C4B5F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107823"/>
            <a:ext cx="38100" cy="46877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107823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" y="3107823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4B5FD"/>
                </a:solidFill>
              </a:rPr>
              <a:t>BizTalk / EDI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" y="3420337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Integration Layer (IT)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357659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576595"/>
            <a:ext cx="12188952" cy="468772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3576595"/>
            <a:ext cx="38100" cy="468772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3576595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" y="3576595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D04A"/>
                </a:solidFill>
              </a:rPr>
              <a:t>Documentum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" y="3889109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Document Management (AP)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04536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045367"/>
            <a:ext cx="12188952" cy="468772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45367"/>
            <a:ext cx="38100" cy="4687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045367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00" y="4045367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6B6B"/>
                </a:solidFill>
              </a:rPr>
              <a:t>MS Access DB</a:t>
            </a:r>
          </a:p>
          <a:p>
            <a:pPr algn="ctr"/>
            <a:r>
              <a:rPr sz="550" b="1">
                <a:solidFill>
                  <a:srgbClr val="FF6B6B"/>
                </a:solidFill>
              </a:rPr>
              <a:t>(Self-Billing)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00" y="4357881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TBS Billing Analyst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514138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4514139"/>
            <a:ext cx="12188952" cy="468772"/>
          </a:xfrm>
          <a:prstGeom prst="rect">
            <a:avLst/>
          </a:prstGeom>
          <a:solidFill>
            <a:srgbClr val="FF9E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4514139"/>
            <a:ext cx="38100" cy="468772"/>
          </a:xfrm>
          <a:prstGeom prst="rect">
            <a:avLst/>
          </a:prstGeom>
          <a:solidFill>
            <a:srgbClr val="FF9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4514139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00" y="4514139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FF9E5E"/>
                </a:solidFill>
              </a:rPr>
              <a:t>Oracle</a:t>
            </a:r>
          </a:p>
          <a:p>
            <a:pPr algn="ctr"/>
            <a:r>
              <a:rPr sz="550" b="1">
                <a:solidFill>
                  <a:srgbClr val="FF9E5E"/>
                </a:solidFill>
              </a:rPr>
              <a:t>Financials 11i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00" y="4826653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AP / AR Finance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982910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4982911"/>
            <a:ext cx="12188952" cy="468772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4982911"/>
            <a:ext cx="38100" cy="468772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4982911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00" y="4982911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C57BFF"/>
                </a:solidFill>
              </a:rPr>
              <a:t>Oracle Fusion</a:t>
            </a:r>
          </a:p>
          <a:p>
            <a:pPr algn="ctr"/>
            <a:r>
              <a:rPr sz="550" b="1">
                <a:solidFill>
                  <a:srgbClr val="C57BFF"/>
                </a:solidFill>
              </a:rPr>
              <a:t>(Procurement/AR)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" y="5295425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Finance / Procurement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5451682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5451683"/>
            <a:ext cx="12188952" cy="468772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451683"/>
            <a:ext cx="38100" cy="468772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5451683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" y="5451683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2E67A"/>
                </a:solidFill>
              </a:rPr>
              <a:t>Tungsten</a:t>
            </a:r>
          </a:p>
          <a:p>
            <a:pPr algn="ctr"/>
            <a:r>
              <a:rPr sz="550" b="1">
                <a:solidFill>
                  <a:srgbClr val="52E67A"/>
                </a:solidFill>
              </a:rPr>
              <a:t>Network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" y="5764197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eInvoicing Portal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5920454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5920455"/>
            <a:ext cx="12188952" cy="468772"/>
          </a:xfrm>
          <a:prstGeom prst="rect">
            <a:avLst/>
          </a:prstGeom>
          <a:solidFill>
            <a:srgbClr val="38C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5920455"/>
            <a:ext cx="38100" cy="468772"/>
          </a:xfrm>
          <a:prstGeom prst="rect">
            <a:avLst/>
          </a:prstGeom>
          <a:solidFill>
            <a:srgbClr val="3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5920455"/>
            <a:ext cx="2659407" cy="468772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00" y="5920455"/>
            <a:ext cx="2583207" cy="4687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38C6FF"/>
                </a:solidFill>
              </a:rPr>
              <a:t>WTA Portal</a:t>
            </a:r>
          </a:p>
          <a:p>
            <a:pPr algn="ctr"/>
            <a:r>
              <a:rPr sz="550" b="1">
                <a:solidFill>
                  <a:srgbClr val="38C6FF"/>
                </a:solidFill>
              </a:rPr>
              <a:t>/ HMRC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00" y="6232969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Customs Clearance Agent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389226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389227"/>
            <a:ext cx="12188952" cy="468773"/>
          </a:xfrm>
          <a:prstGeom prst="rect">
            <a:avLst/>
          </a:prstGeom>
          <a:solidFill>
            <a:srgbClr val="5DDDA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6389227"/>
            <a:ext cx="38100" cy="468773"/>
          </a:xfrm>
          <a:prstGeom prst="rect">
            <a:avLst/>
          </a:prstGeom>
          <a:solidFill>
            <a:srgbClr val="5DD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6389227"/>
            <a:ext cx="2659407" cy="468773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500" y="6389227"/>
            <a:ext cx="2583207" cy="46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50" b="1">
                <a:solidFill>
                  <a:srgbClr val="5DDDAA"/>
                </a:solidFill>
              </a:rPr>
              <a:t>NBS / DDA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00" y="6701742"/>
            <a:ext cx="2608607" cy="156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Duty Management (Finance)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857999"/>
            <a:ext cx="12188952" cy="889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59407" y="0"/>
            <a:ext cx="4210729" cy="475488"/>
          </a:xfrm>
          <a:prstGeom prst="rect">
            <a:avLst/>
          </a:prstGeom>
          <a:solidFill>
            <a:srgbClr val="52E6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97507" y="0"/>
            <a:ext cx="4134529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52E67A"/>
                </a:solidFill>
              </a:rPr>
              <a:t>AR &amp;</a:t>
            </a:r>
          </a:p>
          <a:p>
            <a:pPr algn="ctr"/>
            <a:r>
              <a:rPr sz="700" b="1">
                <a:solidFill>
                  <a:srgbClr val="52E67A"/>
                </a:solidFill>
              </a:rPr>
              <a:t>Settlement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70135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70136" y="0"/>
            <a:ext cx="5318816" cy="475488"/>
          </a:xfrm>
          <a:prstGeom prst="rect">
            <a:avLst/>
          </a:prstGeom>
          <a:solidFill>
            <a:srgbClr val="38C6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08236" y="0"/>
            <a:ext cx="5242616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38C6FF"/>
                </a:solidFill>
              </a:rPr>
              <a:t>Customs</a:t>
            </a:r>
          </a:p>
          <a:p>
            <a:pPr algn="ctr"/>
            <a:r>
              <a:rPr sz="700" b="1">
                <a:solidFill>
                  <a:srgbClr val="38C6FF"/>
                </a:solidFill>
              </a:rPr>
              <a:t>&amp; Duty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188951" y="0"/>
            <a:ext cx="889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0" y="0"/>
            <a:ext cx="2659407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SYSTEM / FUNCTION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200" y="50800"/>
            <a:ext cx="10058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5  |  P7-8: AR &amp; Settlement &amp; Customs / Duty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244163" y="2873437"/>
            <a:ext cx="1241057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30712" y="4748525"/>
            <a:ext cx="576205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795485" y="6623613"/>
            <a:ext cx="576205" cy="0"/>
          </a:xfrm>
          <a:prstGeom prst="line">
            <a:avLst/>
          </a:prstGeom>
          <a:ln w="1143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4875580" y="4831462"/>
            <a:ext cx="1551321" cy="302899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376920" y="4891471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AR for UK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424179" y="2956374"/>
            <a:ext cx="664852" cy="3115531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7482285" y="4422699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CSS data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426901" y="4831462"/>
            <a:ext cx="1662130" cy="1240443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983646" y="5360243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IMS data</a:t>
            </a:r>
          </a:p>
        </p:txBody>
      </p:sp>
      <p:cxnSp>
        <p:nvCxnSpPr>
          <p:cNvPr id="98" name="Connector 97"/>
          <p:cNvCxnSpPr/>
          <p:nvPr/>
        </p:nvCxnSpPr>
        <p:spPr>
          <a:xfrm flipH="1">
            <a:off x="8975501" y="2956374"/>
            <a:ext cx="1329703" cy="3584303"/>
          </a:xfrm>
          <a:prstGeom prst="bentConnector3">
            <a:avLst/>
          </a:prstGeom>
          <a:ln w="1143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366032" y="4657085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HS codes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604195" y="2790501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CSS Auto-sent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WTA (Pre-Arrival)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0963" y="279050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04195" y="2956374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 → WTA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485220" y="2790501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HS Code Extract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NBS (weekly)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1988" y="279050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85220" y="2956374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OTM → NBS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390744" y="4665589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AP Invoice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Auto-Created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27512" y="466558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90744" y="4831462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Financials 11i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606917" y="4665589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AR Invoice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Auto-Created (TISL)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43685" y="4665589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06917" y="4831462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Financials 11i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055596" y="5134361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UK/ROI AR Automation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&amp; EDI to Financials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92364" y="5134361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55596" y="5300234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Oracle Fusion AR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269047" y="6071905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Prepare CSS+IMS &amp;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File SFD at UK Border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05815" y="6071905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94A3B8"/>
                </a:solidFill>
              </a:rPr>
              <a:t>[A/M]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69047" y="6237778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WTA / HMRC (CHIEF/CDS)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155517" y="6540677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D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NBS: Duty Rates;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Accrual Posted to GL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592285" y="654067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55517" y="6706550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NBS / OFI GL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371690" y="6540677"/>
            <a:ext cx="1639968" cy="165873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TISL Monthly Duty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Payment via DDA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08458" y="6540677"/>
            <a:ext cx="20320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50" b="1">
                <a:solidFill>
                  <a:srgbClr val="4ADE80"/>
                </a:solidFill>
              </a:rPr>
              <a:t>[A]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371690" y="6706550"/>
            <a:ext cx="1639968" cy="1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">
                <a:solidFill>
                  <a:srgbClr val="94A3B8"/>
                </a:solidFill>
              </a:rPr>
              <a:t>DDA / TISL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